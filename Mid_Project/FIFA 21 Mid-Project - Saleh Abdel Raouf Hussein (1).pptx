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985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50340"/>
            <a:ext cx="10566400" cy="4594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985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50340"/>
            <a:ext cx="10566400" cy="4594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jpeg"/><Relationship Id="rId3" Type="http://schemas.openxmlformats.org/officeDocument/2006/relationships/image" Target="../media/image-24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jpeg"/><Relationship Id="rId3" Type="http://schemas.openxmlformats.org/officeDocument/2006/relationships/image" Target="../media/image-25-3.jpeg"/><Relationship Id="rId4" Type="http://schemas.openxmlformats.org/officeDocument/2006/relationships/image" Target="../media/image-25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87452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19A9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SCIENCE MID-PROJECT</a:t>
            </a:r>
            <a:endParaRPr lang="en-US" sz="16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336800"/>
            <a:ext cx="10883392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FIFA 21 Players</a:t>
            </a:r>
            <a:endParaRPr lang="en-US" sz="5200" dirty="0"/>
          </a:p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Analysis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812800" y="390144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Cleaning, exploration, insights and a Streamlit web app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800" y="439928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Epsilon AI  |  18,979 players  |  77 columns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800" y="6202680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417050" y="6238240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/ 28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Preview: Raw Data Sample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99540"/>
            <a:ext cx="10566400" cy="297815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</p:spPr>
      </p:sp>
      <p:pic>
        <p:nvPicPr>
          <p:cNvPr id="5" name="Image 1" descr="First six rows of the raw FIFA 21 file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812800" y="1399540"/>
            <a:ext cx="10566400" cy="2978150"/>
          </a:xfrm>
          <a:prstGeom prst="roundRect">
            <a:avLst>
              <a:gd name="adj" fmla="val 2985"/>
            </a:avLst>
          </a:prstGeom>
        </p:spPr>
      </p:pic>
      <p:sp>
        <p:nvSpPr>
          <p:cNvPr id="6" name="Text 2"/>
          <p:cNvSpPr/>
          <p:nvPr/>
        </p:nvSpPr>
        <p:spPr>
          <a:xfrm>
            <a:off x="812800" y="4631690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file, 18,979 rows by 77 columns. Note the hidden line breaks in Club, money stored as text (€103.5M), and units inside Height and Weight.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12800" y="6202680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417050" y="6238241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28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99541"/>
            <a:ext cx="3403600" cy="1066165"/>
          </a:xfrm>
          <a:prstGeom prst="roundRect">
            <a:avLst>
              <a:gd name="adj" fmla="val 11912"/>
            </a:avLst>
          </a:prstGeom>
          <a:solidFill>
            <a:srgbClr val="16335C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99541"/>
            <a:ext cx="3403600" cy="1066165"/>
          </a:xfrm>
          <a:custGeom>
            <a:avLst/>
            <a:gdLst/>
            <a:ahLst/>
            <a:cxnLst/>
            <a:rect l="l" t="t" r="r" b="b"/>
            <a:pathLst>
              <a:path w="3403600" h="106616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6" name="Text 3"/>
          <p:cNvSpPr/>
          <p:nvPr/>
        </p:nvSpPr>
        <p:spPr>
          <a:xfrm>
            <a:off x="1041400" y="1678941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Domain &amp; Dataset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41400" y="2014220"/>
            <a:ext cx="3034792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the data is about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4200" y="1399541"/>
            <a:ext cx="3403600" cy="1066165"/>
          </a:xfrm>
          <a:prstGeom prst="roundRect">
            <a:avLst>
              <a:gd name="adj" fmla="val 11912"/>
            </a:avLst>
          </a:prstGeom>
          <a:solidFill>
            <a:srgbClr val="16335C"/>
          </a:solidFill>
          <a:ln/>
        </p:spPr>
      </p:sp>
      <p:sp>
        <p:nvSpPr>
          <p:cNvPr id="9" name="Shape 6"/>
          <p:cNvSpPr/>
          <p:nvPr/>
        </p:nvSpPr>
        <p:spPr>
          <a:xfrm>
            <a:off x="4394200" y="1399541"/>
            <a:ext cx="3403600" cy="1066165"/>
          </a:xfrm>
          <a:custGeom>
            <a:avLst/>
            <a:gdLst/>
            <a:ahLst/>
            <a:cxnLst/>
            <a:rect l="l" t="t" r="r" b="b"/>
            <a:pathLst>
              <a:path w="3403600" h="106616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0" name="Text 7"/>
          <p:cNvSpPr/>
          <p:nvPr/>
        </p:nvSpPr>
        <p:spPr>
          <a:xfrm>
            <a:off x="4622800" y="1678941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Data Understanding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22800" y="2014220"/>
            <a:ext cx="3034792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Columns and their meaning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75600" y="1399541"/>
            <a:ext cx="3403600" cy="1066165"/>
          </a:xfrm>
          <a:prstGeom prst="roundRect">
            <a:avLst>
              <a:gd name="adj" fmla="val 11912"/>
            </a:avLst>
          </a:prstGeom>
          <a:solidFill>
            <a:srgbClr val="16335C"/>
          </a:solidFill>
          <a:ln/>
        </p:spPr>
      </p:sp>
      <p:sp>
        <p:nvSpPr>
          <p:cNvPr id="13" name="Shape 10"/>
          <p:cNvSpPr/>
          <p:nvPr/>
        </p:nvSpPr>
        <p:spPr>
          <a:xfrm>
            <a:off x="7975600" y="1399541"/>
            <a:ext cx="3403600" cy="1066165"/>
          </a:xfrm>
          <a:custGeom>
            <a:avLst/>
            <a:gdLst/>
            <a:ahLst/>
            <a:cxnLst/>
            <a:rect l="l" t="t" r="r" b="b"/>
            <a:pathLst>
              <a:path w="3403600" h="106616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4" name="Text 11"/>
          <p:cNvSpPr/>
          <p:nvPr/>
        </p:nvSpPr>
        <p:spPr>
          <a:xfrm>
            <a:off x="8204200" y="1678941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Data Problems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04200" y="2014220"/>
            <a:ext cx="31750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was wrong with the raw data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2800" y="2643505"/>
            <a:ext cx="3403600" cy="1325245"/>
          </a:xfrm>
          <a:prstGeom prst="roundRect">
            <a:avLst>
              <a:gd name="adj" fmla="val 9583"/>
            </a:avLst>
          </a:prstGeom>
          <a:solidFill>
            <a:srgbClr val="16335C"/>
          </a:solidFill>
          <a:ln/>
        </p:spPr>
      </p:sp>
      <p:sp>
        <p:nvSpPr>
          <p:cNvPr id="17" name="Shape 14"/>
          <p:cNvSpPr/>
          <p:nvPr/>
        </p:nvSpPr>
        <p:spPr>
          <a:xfrm>
            <a:off x="812800" y="2643505"/>
            <a:ext cx="3403600" cy="1325245"/>
          </a:xfrm>
          <a:custGeom>
            <a:avLst/>
            <a:gdLst/>
            <a:ahLst/>
            <a:cxnLst/>
            <a:rect l="l" t="t" r="r" b="b"/>
            <a:pathLst>
              <a:path w="3403600" h="132524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8" name="Text 15"/>
          <p:cNvSpPr/>
          <p:nvPr/>
        </p:nvSpPr>
        <p:spPr>
          <a:xfrm>
            <a:off x="1041400" y="2922905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Data Cleaning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41400" y="3258186"/>
            <a:ext cx="3034792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each problem was fixed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394200" y="2643505"/>
            <a:ext cx="3403600" cy="1325245"/>
          </a:xfrm>
          <a:prstGeom prst="roundRect">
            <a:avLst>
              <a:gd name="adj" fmla="val 9583"/>
            </a:avLst>
          </a:prstGeom>
          <a:solidFill>
            <a:srgbClr val="16335C"/>
          </a:solidFill>
          <a:ln/>
        </p:spPr>
      </p:sp>
      <p:sp>
        <p:nvSpPr>
          <p:cNvPr id="21" name="Shape 18"/>
          <p:cNvSpPr/>
          <p:nvPr/>
        </p:nvSpPr>
        <p:spPr>
          <a:xfrm>
            <a:off x="4394200" y="2643505"/>
            <a:ext cx="3403600" cy="1325245"/>
          </a:xfrm>
          <a:custGeom>
            <a:avLst/>
            <a:gdLst/>
            <a:ahLst/>
            <a:cxnLst/>
            <a:rect l="l" t="t" r="r" b="b"/>
            <a:pathLst>
              <a:path w="3403600" h="132524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22" name="Text 19"/>
          <p:cNvSpPr/>
          <p:nvPr/>
        </p:nvSpPr>
        <p:spPr>
          <a:xfrm>
            <a:off x="4622800" y="2922905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Exploration &amp; Insights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622800" y="3258186"/>
            <a:ext cx="3034792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975600" y="2643505"/>
            <a:ext cx="3403600" cy="1325245"/>
          </a:xfrm>
          <a:prstGeom prst="roundRect">
            <a:avLst>
              <a:gd name="adj" fmla="val 9583"/>
            </a:avLst>
          </a:prstGeom>
          <a:solidFill>
            <a:srgbClr val="16335C"/>
          </a:solidFill>
          <a:ln/>
        </p:spPr>
      </p:sp>
      <p:sp>
        <p:nvSpPr>
          <p:cNvPr id="25" name="Shape 22"/>
          <p:cNvSpPr/>
          <p:nvPr/>
        </p:nvSpPr>
        <p:spPr>
          <a:xfrm>
            <a:off x="7975600" y="2643505"/>
            <a:ext cx="3403600" cy="1325245"/>
          </a:xfrm>
          <a:custGeom>
            <a:avLst/>
            <a:gdLst/>
            <a:ahLst/>
            <a:cxnLst/>
            <a:rect l="l" t="t" r="r" b="b"/>
            <a:pathLst>
              <a:path w="3403600" h="132524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26" name="Text 23"/>
          <p:cNvSpPr/>
          <p:nvPr/>
        </p:nvSpPr>
        <p:spPr>
          <a:xfrm>
            <a:off x="8204200" y="2922905"/>
            <a:ext cx="3034792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 Streamlit App &amp; Conclusion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204200" y="3517266"/>
            <a:ext cx="3034792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dashboard and summary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12800" y="6202680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417050" y="6238241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28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Domain and Dataset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99541"/>
            <a:ext cx="2489200" cy="1343660"/>
          </a:xfrm>
          <a:prstGeom prst="roundRect">
            <a:avLst>
              <a:gd name="adj" fmla="val 9452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99541"/>
            <a:ext cx="2489200" cy="1343660"/>
          </a:xfrm>
          <a:custGeom>
            <a:avLst/>
            <a:gdLst/>
            <a:ahLst/>
            <a:cxnLst/>
            <a:rect l="l" t="t" r="r" b="b"/>
            <a:pathLst>
              <a:path w="2489200" h="1343660">
                <a:moveTo>
                  <a:pt x="127000" y="1343660"/>
                </a:moveTo>
                <a:lnTo>
                  <a:pt x="127000" y="134366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216660"/>
                </a:lnTo>
                <a:arcTo hR="127000" wR="76200" stAng="108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6" name="Text 3"/>
          <p:cNvSpPr/>
          <p:nvPr/>
        </p:nvSpPr>
        <p:spPr>
          <a:xfrm>
            <a:off x="1092200" y="1628141"/>
            <a:ext cx="2040636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19A9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18,979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092200" y="2283461"/>
            <a:ext cx="204063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Players (rows)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505200" y="1399541"/>
            <a:ext cx="2489200" cy="1343660"/>
          </a:xfrm>
          <a:prstGeom prst="roundRect">
            <a:avLst>
              <a:gd name="adj" fmla="val 9452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3505200" y="1399541"/>
            <a:ext cx="2489200" cy="1343660"/>
          </a:xfrm>
          <a:custGeom>
            <a:avLst/>
            <a:gdLst/>
            <a:ahLst/>
            <a:cxnLst/>
            <a:rect l="l" t="t" r="r" b="b"/>
            <a:pathLst>
              <a:path w="2489200" h="1343660">
                <a:moveTo>
                  <a:pt x="127000" y="1343660"/>
                </a:moveTo>
                <a:lnTo>
                  <a:pt x="127000" y="134366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216660"/>
                </a:lnTo>
                <a:arcTo hR="127000" wR="76200" stAng="108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0" name="Text 7"/>
          <p:cNvSpPr/>
          <p:nvPr/>
        </p:nvSpPr>
        <p:spPr>
          <a:xfrm>
            <a:off x="3784600" y="1628141"/>
            <a:ext cx="2040636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77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784600" y="2283461"/>
            <a:ext cx="204063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Columns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97600" y="1399541"/>
            <a:ext cx="2489200" cy="1343660"/>
          </a:xfrm>
          <a:prstGeom prst="roundRect">
            <a:avLst>
              <a:gd name="adj" fmla="val 9452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197600" y="1399541"/>
            <a:ext cx="2489200" cy="1343660"/>
          </a:xfrm>
          <a:custGeom>
            <a:avLst/>
            <a:gdLst/>
            <a:ahLst/>
            <a:cxnLst/>
            <a:rect l="l" t="t" r="r" b="b"/>
            <a:pathLst>
              <a:path w="2489200" h="1343660">
                <a:moveTo>
                  <a:pt x="127000" y="1343660"/>
                </a:moveTo>
                <a:lnTo>
                  <a:pt x="127000" y="134366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216660"/>
                </a:lnTo>
                <a:arcTo hR="127000" wR="76200" stAng="108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4" name="Text 11"/>
          <p:cNvSpPr/>
          <p:nvPr/>
        </p:nvSpPr>
        <p:spPr>
          <a:xfrm>
            <a:off x="6477000" y="1628141"/>
            <a:ext cx="2040636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19A9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164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477000" y="2283461"/>
            <a:ext cx="204063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Nationalities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890000" y="1399541"/>
            <a:ext cx="2489200" cy="1343660"/>
          </a:xfrm>
          <a:prstGeom prst="roundRect">
            <a:avLst>
              <a:gd name="adj" fmla="val 9452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8890000" y="1399541"/>
            <a:ext cx="2489200" cy="1343660"/>
          </a:xfrm>
          <a:custGeom>
            <a:avLst/>
            <a:gdLst/>
            <a:ahLst/>
            <a:cxnLst/>
            <a:rect l="l" t="t" r="r" b="b"/>
            <a:pathLst>
              <a:path w="2489200" h="1343660">
                <a:moveTo>
                  <a:pt x="127000" y="1343660"/>
                </a:moveTo>
                <a:lnTo>
                  <a:pt x="127000" y="134366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216660"/>
                </a:lnTo>
                <a:arcTo hR="127000" wR="76200" stAng="108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8" name="Text 15"/>
          <p:cNvSpPr/>
          <p:nvPr/>
        </p:nvSpPr>
        <p:spPr>
          <a:xfrm>
            <a:off x="9169400" y="1628141"/>
            <a:ext cx="2040636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681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9169400" y="2283461"/>
            <a:ext cx="204063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Clubs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12800" y="2997200"/>
            <a:ext cx="3386614" cy="1734820"/>
          </a:xfrm>
          <a:prstGeom prst="roundRect">
            <a:avLst>
              <a:gd name="adj" fmla="val 7321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812800" y="2997200"/>
            <a:ext cx="3386614" cy="1734820"/>
          </a:xfrm>
          <a:custGeom>
            <a:avLst/>
            <a:gdLst/>
            <a:ahLst/>
            <a:cxnLst/>
            <a:rect l="l" t="t" r="r" b="b"/>
            <a:pathLst>
              <a:path w="3386614" h="173482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14" y="0"/>
                </a:lnTo>
                <a:arcTo hR="127000" wR="127000" stAng="16200000" swAng="5400000"/>
                <a:lnTo>
                  <a:pt x="338661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22" name="Text 19"/>
          <p:cNvSpPr/>
          <p:nvPr/>
        </p:nvSpPr>
        <p:spPr>
          <a:xfrm>
            <a:off x="1041400" y="3276600"/>
            <a:ext cx="301729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Domain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041400" y="3611880"/>
            <a:ext cx="3017296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Football (soccer) video-game data: every player in EA Sports FIFA 21 with ratings, skills, contract and market value.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402614" y="2997200"/>
            <a:ext cx="3386693" cy="1734820"/>
          </a:xfrm>
          <a:prstGeom prst="roundRect">
            <a:avLst>
              <a:gd name="adj" fmla="val 7321"/>
            </a:avLst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4402614" y="2997200"/>
            <a:ext cx="3386693" cy="1734820"/>
          </a:xfrm>
          <a:custGeom>
            <a:avLst/>
            <a:gdLst/>
            <a:ahLst/>
            <a:cxnLst/>
            <a:rect l="l" t="t" r="r" b="b"/>
            <a:pathLst>
              <a:path w="3386693" h="173482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93" y="0"/>
                </a:lnTo>
                <a:arcTo hR="127000" wR="127000" stAng="16200000" swAng="5400000"/>
                <a:lnTo>
                  <a:pt x="3386693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26" name="Text 23"/>
          <p:cNvSpPr/>
          <p:nvPr/>
        </p:nvSpPr>
        <p:spPr>
          <a:xfrm>
            <a:off x="4631214" y="3276600"/>
            <a:ext cx="301737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4631214" y="3611880"/>
            <a:ext cx="3017378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FIFA 21 players file, collected from the sofifa website and published on Kaggle.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992507" y="2997200"/>
            <a:ext cx="3386693" cy="1734820"/>
          </a:xfrm>
          <a:prstGeom prst="roundRect">
            <a:avLst>
              <a:gd name="adj" fmla="val 7321"/>
            </a:avLst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7992507" y="2997200"/>
            <a:ext cx="3386693" cy="1734820"/>
          </a:xfrm>
          <a:custGeom>
            <a:avLst/>
            <a:gdLst/>
            <a:ahLst/>
            <a:cxnLst/>
            <a:rect l="l" t="t" r="r" b="b"/>
            <a:pathLst>
              <a:path w="3386693" h="173482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93" y="0"/>
                </a:lnTo>
                <a:arcTo hR="127000" wR="127000" stAng="16200000" swAng="5400000"/>
                <a:lnTo>
                  <a:pt x="3386693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30" name="Text 27"/>
          <p:cNvSpPr/>
          <p:nvPr/>
        </p:nvSpPr>
        <p:spPr>
          <a:xfrm>
            <a:off x="8221107" y="3276600"/>
            <a:ext cx="301737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fits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8221107" y="3611880"/>
            <a:ext cx="3017378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Real-world messy data: mixed units, text numbers, hidden characters and missing values.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12800" y="6202682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417050" y="6238239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28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Questions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99539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99539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6" name="Text 3"/>
          <p:cNvSpPr/>
          <p:nvPr/>
        </p:nvSpPr>
        <p:spPr>
          <a:xfrm>
            <a:off x="1041400" y="1678939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are the best?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41400" y="2014221"/>
            <a:ext cx="30347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Highest-rated and highest-potential players, and the biggest growth gaps.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4200" y="1399539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9" name="Shape 6"/>
          <p:cNvSpPr/>
          <p:nvPr/>
        </p:nvSpPr>
        <p:spPr>
          <a:xfrm>
            <a:off x="4394200" y="1399539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0" name="Text 7"/>
          <p:cNvSpPr/>
          <p:nvPr/>
        </p:nvSpPr>
        <p:spPr>
          <a:xfrm>
            <a:off x="4622800" y="1678939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leads?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22800" y="2014221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nationalities and clubs have the most and the best players.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75600" y="1399539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13" name="Shape 10"/>
          <p:cNvSpPr/>
          <p:nvPr/>
        </p:nvSpPr>
        <p:spPr>
          <a:xfrm>
            <a:off x="7975600" y="1399539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4" name="Text 11"/>
          <p:cNvSpPr/>
          <p:nvPr/>
        </p:nvSpPr>
        <p:spPr>
          <a:xfrm>
            <a:off x="8204200" y="1678939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is the money?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04200" y="2014221"/>
            <a:ext cx="30347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valuable and highest-paid players, and the clubs with the largest wage bills.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2800" y="3089275"/>
            <a:ext cx="3403600" cy="1289050"/>
          </a:xfrm>
          <a:prstGeom prst="roundRect">
            <a:avLst>
              <a:gd name="adj" fmla="val 9852"/>
            </a:avLst>
          </a:prstGeom>
          <a:solidFill>
            <a:srgbClr val="16335C"/>
          </a:solidFill>
          <a:ln/>
        </p:spPr>
      </p:sp>
      <p:sp>
        <p:nvSpPr>
          <p:cNvPr id="17" name="Shape 14"/>
          <p:cNvSpPr/>
          <p:nvPr/>
        </p:nvSpPr>
        <p:spPr>
          <a:xfrm>
            <a:off x="812800" y="3089275"/>
            <a:ext cx="3403600" cy="1289050"/>
          </a:xfrm>
          <a:custGeom>
            <a:avLst/>
            <a:gdLst/>
            <a:ahLst/>
            <a:cxnLst/>
            <a:rect l="l" t="t" r="r" b="b"/>
            <a:pathLst>
              <a:path w="3403600" h="128905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8" name="Text 15"/>
          <p:cNvSpPr/>
          <p:nvPr/>
        </p:nvSpPr>
        <p:spPr>
          <a:xfrm>
            <a:off x="1041400" y="3368675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drives rating?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41400" y="3703957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age, potential, value and wage relate to overall rating (OVA).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394200" y="3089275"/>
            <a:ext cx="3403600" cy="1289050"/>
          </a:xfrm>
          <a:prstGeom prst="roundRect">
            <a:avLst>
              <a:gd name="adj" fmla="val 9852"/>
            </a:avLst>
          </a:prstGeom>
          <a:solidFill>
            <a:srgbClr val="16335C"/>
          </a:solidFill>
          <a:ln/>
        </p:spPr>
      </p:sp>
      <p:sp>
        <p:nvSpPr>
          <p:cNvPr id="21" name="Shape 18"/>
          <p:cNvSpPr/>
          <p:nvPr/>
        </p:nvSpPr>
        <p:spPr>
          <a:xfrm>
            <a:off x="4394200" y="3089275"/>
            <a:ext cx="3403600" cy="1289050"/>
          </a:xfrm>
          <a:custGeom>
            <a:avLst/>
            <a:gdLst/>
            <a:ahLst/>
            <a:cxnLst/>
            <a:rect l="l" t="t" r="r" b="b"/>
            <a:pathLst>
              <a:path w="3403600" h="128905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22" name="Text 19"/>
          <p:cNvSpPr/>
          <p:nvPr/>
        </p:nvSpPr>
        <p:spPr>
          <a:xfrm>
            <a:off x="4622800" y="3368675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Left or right?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622800" y="3703957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Preferred foot share and its effect on rating.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975600" y="3089275"/>
            <a:ext cx="3403600" cy="1289050"/>
          </a:xfrm>
          <a:prstGeom prst="roundRect">
            <a:avLst>
              <a:gd name="adj" fmla="val 9852"/>
            </a:avLst>
          </a:prstGeom>
          <a:solidFill>
            <a:srgbClr val="16335C"/>
          </a:solidFill>
          <a:ln/>
        </p:spPr>
      </p:sp>
      <p:sp>
        <p:nvSpPr>
          <p:cNvPr id="25" name="Shape 22"/>
          <p:cNvSpPr/>
          <p:nvPr/>
        </p:nvSpPr>
        <p:spPr>
          <a:xfrm>
            <a:off x="7975600" y="3089275"/>
            <a:ext cx="3403600" cy="1289050"/>
          </a:xfrm>
          <a:custGeom>
            <a:avLst/>
            <a:gdLst/>
            <a:ahLst/>
            <a:cxnLst/>
            <a:rect l="l" t="t" r="r" b="b"/>
            <a:pathLst>
              <a:path w="3403600" h="128905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26" name="Text 23"/>
          <p:cNvSpPr/>
          <p:nvPr/>
        </p:nvSpPr>
        <p:spPr>
          <a:xfrm>
            <a:off x="8204200" y="3368675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skills matter?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204200" y="3703957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Attributes most correlated with OVA.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12800" y="6202682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417050" y="6238239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28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Understanding: Columns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99539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99539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6" name="Text 3"/>
          <p:cNvSpPr/>
          <p:nvPr/>
        </p:nvSpPr>
        <p:spPr>
          <a:xfrm>
            <a:off x="1041400" y="1678939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Identity and bio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41400" y="2014221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Name, LongName, Nationality, Age, Height, Weight, Preferred Foot.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4200" y="1399539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4394200" y="1399539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0" name="Text 7"/>
          <p:cNvSpPr/>
          <p:nvPr/>
        </p:nvSpPr>
        <p:spPr>
          <a:xfrm>
            <a:off x="4622800" y="1678939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Ratings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22800" y="2014221"/>
            <a:ext cx="30347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OVA (overall), POT (potential), BOV (best overall), Best Position, Positions.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75600" y="1399539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7975600" y="1399539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4" name="Text 11"/>
          <p:cNvSpPr/>
          <p:nvPr/>
        </p:nvSpPr>
        <p:spPr>
          <a:xfrm>
            <a:off x="8204200" y="1678939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Club and contract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04200" y="2014221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Club, Contract period, Joined date, Loan Date End.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2800" y="3089275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812800" y="3089275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8" name="Text 15"/>
          <p:cNvSpPr/>
          <p:nvPr/>
        </p:nvSpPr>
        <p:spPr>
          <a:xfrm>
            <a:off x="1041400" y="3368675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Money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41400" y="3703957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 (market value), Wage, Release Clause.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394200" y="3089275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4394200" y="3089275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22" name="Text 19"/>
          <p:cNvSpPr/>
          <p:nvPr/>
        </p:nvSpPr>
        <p:spPr>
          <a:xfrm>
            <a:off x="4622800" y="3368675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Skills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622800" y="3703957"/>
            <a:ext cx="30347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 detailed skills grouped as Attacking, Skill, Movement, Power, Mentality, Defending, Goalkeeping.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975600" y="3089275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7975600" y="3089275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26" name="Text 23"/>
          <p:cNvSpPr/>
          <p:nvPr/>
        </p:nvSpPr>
        <p:spPr>
          <a:xfrm>
            <a:off x="8204200" y="3368675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Summary and fame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204200" y="3703957"/>
            <a:ext cx="30347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PAC, SHO, PAS, DRI, DEF, PHY, Total and Base Stats, W/F, SM, work rates, IR, Hits.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12800" y="6202682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417050" y="6238239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28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Numerical and Categorical Columns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74139"/>
            <a:ext cx="5194300" cy="1275080"/>
          </a:xfrm>
          <a:prstGeom prst="roundRect">
            <a:avLst>
              <a:gd name="adj" fmla="val 9960"/>
            </a:avLst>
          </a:prstGeom>
          <a:solidFill>
            <a:srgbClr val="16335C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74139"/>
            <a:ext cx="5194300" cy="1275080"/>
          </a:xfrm>
          <a:custGeom>
            <a:avLst/>
            <a:gdLst/>
            <a:ahLst/>
            <a:cxnLst/>
            <a:rect l="l" t="t" r="r" b="b"/>
            <a:pathLst>
              <a:path w="5194300" h="127508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67300" y="0"/>
                </a:lnTo>
                <a:arcTo hR="127000" wR="127000" stAng="16200000" swAng="5400000"/>
                <a:lnTo>
                  <a:pt x="5194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1628139"/>
            <a:ext cx="49315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9A9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54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16000" y="2197100"/>
            <a:ext cx="4931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Numerical columns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84900" y="1374139"/>
            <a:ext cx="5194300" cy="1275080"/>
          </a:xfrm>
          <a:prstGeom prst="roundRect">
            <a:avLst>
              <a:gd name="adj" fmla="val 9960"/>
            </a:avLst>
          </a:prstGeom>
          <a:solidFill>
            <a:srgbClr val="16335C"/>
          </a:solidFill>
          <a:ln/>
        </p:spPr>
      </p:sp>
      <p:sp>
        <p:nvSpPr>
          <p:cNvPr id="9" name="Shape 6"/>
          <p:cNvSpPr/>
          <p:nvPr/>
        </p:nvSpPr>
        <p:spPr>
          <a:xfrm>
            <a:off x="6184900" y="1374139"/>
            <a:ext cx="5194300" cy="1275080"/>
          </a:xfrm>
          <a:custGeom>
            <a:avLst/>
            <a:gdLst/>
            <a:ahLst/>
            <a:cxnLst/>
            <a:rect l="l" t="t" r="r" b="b"/>
            <a:pathLst>
              <a:path w="5194300" h="127508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67300" y="0"/>
                </a:lnTo>
                <a:arcTo hR="127000" wR="127000" stAng="16200000" swAng="5400000"/>
                <a:lnTo>
                  <a:pt x="5194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0" name="Text 7"/>
          <p:cNvSpPr/>
          <p:nvPr/>
        </p:nvSpPr>
        <p:spPr>
          <a:xfrm>
            <a:off x="6388100" y="1628139"/>
            <a:ext cx="49315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388100" y="2197100"/>
            <a:ext cx="4931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 (object) columns in the raw file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2800" y="2877821"/>
            <a:ext cx="2554367" cy="232156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812800" y="2877821"/>
            <a:ext cx="2554367" cy="2321560"/>
          </a:xfrm>
          <a:custGeom>
            <a:avLst/>
            <a:gdLst/>
            <a:ahLst/>
            <a:cxnLst/>
            <a:rect l="l" t="t" r="r" b="b"/>
            <a:pathLst>
              <a:path w="2554367" h="232156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2440067" y="0"/>
                </a:lnTo>
                <a:arcTo hR="114300" wR="114300" stAng="16200000" swAng="5400000"/>
                <a:lnTo>
                  <a:pt x="2554367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4" name="Text 11"/>
          <p:cNvSpPr/>
          <p:nvPr/>
        </p:nvSpPr>
        <p:spPr>
          <a:xfrm>
            <a:off x="990600" y="3081021"/>
            <a:ext cx="22647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Numerical (54)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90600" y="3347721"/>
            <a:ext cx="226473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Ratings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ID, Age, ↓OVA, POT, BOV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90600" y="3782061"/>
            <a:ext cx="226473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Attributes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34 sub-skills plus 7 group scores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90600" y="4216400"/>
            <a:ext cx="226473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Summary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Total Stats, Base Stats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90600" y="4650739"/>
            <a:ext cx="226473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six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PAC, SHO, PAS, DRI, DEF, PHY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544967" y="2877821"/>
            <a:ext cx="3472895" cy="232156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3544967" y="2877821"/>
            <a:ext cx="3472895" cy="2321560"/>
          </a:xfrm>
          <a:custGeom>
            <a:avLst/>
            <a:gdLst/>
            <a:ahLst/>
            <a:cxnLst/>
            <a:rect l="l" t="t" r="r" b="b"/>
            <a:pathLst>
              <a:path w="3472895" h="232156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358595" y="0"/>
                </a:lnTo>
                <a:arcTo hR="114300" wR="114300" stAng="16200000" swAng="5400000"/>
                <a:lnTo>
                  <a:pt x="3472895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21" name="Text 18"/>
          <p:cNvSpPr/>
          <p:nvPr/>
        </p:nvSpPr>
        <p:spPr>
          <a:xfrm>
            <a:off x="3722767" y="3081021"/>
            <a:ext cx="321081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 columns that need cleaning (12)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722767" y="3576321"/>
            <a:ext cx="3210813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Units and money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Height, Weight, Value, Wage, Release Clause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722767" y="4010661"/>
            <a:ext cx="3295095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Dates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Contract, Joined, Loan Date End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722767" y="4246882"/>
            <a:ext cx="3210813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Stars and hits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W/F, SM, IR, Hits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195662" y="2877821"/>
            <a:ext cx="4183539" cy="232156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7195662" y="2877821"/>
            <a:ext cx="4183539" cy="2321560"/>
          </a:xfrm>
          <a:custGeom>
            <a:avLst/>
            <a:gdLst/>
            <a:ahLst/>
            <a:cxnLst/>
            <a:rect l="l" t="t" r="r" b="b"/>
            <a:pathLst>
              <a:path w="4183539" h="232156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4069239" y="0"/>
                </a:lnTo>
                <a:arcTo hR="114300" wR="114300" stAng="16200000" swAng="5400000"/>
                <a:lnTo>
                  <a:pt x="4183539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27" name="Text 24"/>
          <p:cNvSpPr/>
          <p:nvPr/>
        </p:nvSpPr>
        <p:spPr>
          <a:xfrm>
            <a:off x="7373462" y="3081021"/>
            <a:ext cx="394277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True categories and identity (11)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373462" y="3347721"/>
            <a:ext cx="3942777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Categories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Nationality, Club, Preferred Foot, Best Position, Positions, A/W, D/W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373462" y="3782061"/>
            <a:ext cx="394277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Identity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Name, LongName, photoUrl, playerUrl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12800" y="6202682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417050" y="6238239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28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Column Dictionary 1/3: Bio and Contract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74139"/>
            <a:ext cx="3403600" cy="29464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74139"/>
            <a:ext cx="3403600" cy="2946400"/>
          </a:xfrm>
          <a:custGeom>
            <a:avLst/>
            <a:gdLst/>
            <a:ahLst/>
            <a:cxnLst/>
            <a:rect l="l" t="t" r="r" b="b"/>
            <a:pathLst>
              <a:path w="3403600" h="294640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289300" y="0"/>
                </a:lnTo>
                <a:arcTo hR="114300" wR="114300" stAng="16200000" swAng="5400000"/>
                <a:lnTo>
                  <a:pt x="3403600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6" name="Text 3"/>
          <p:cNvSpPr/>
          <p:nvPr/>
        </p:nvSpPr>
        <p:spPr>
          <a:xfrm>
            <a:off x="990600" y="1577339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Identity &amp; Bio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90600" y="1844039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Unique player ID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90600" y="2080261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Short name, e.g. L. Messi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90600" y="231648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LongName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Full name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90600" y="2552700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photoUrl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Player photo link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90600" y="2788921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playerUrl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sofifa profile link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90600" y="3025139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Nationality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Player country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90600" y="3261361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Age in years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90600" y="349758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Height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Text, e.g. 170cm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90600" y="3733800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Weight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Text, e.g. 72kg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90600" y="3970021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Preferred Foot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Left or Right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94200" y="1374139"/>
            <a:ext cx="3403600" cy="1292860"/>
          </a:xfrm>
          <a:prstGeom prst="roundRect">
            <a:avLst>
              <a:gd name="adj" fmla="val 8841"/>
            </a:avLst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394200" y="1374139"/>
            <a:ext cx="3403600" cy="1292860"/>
          </a:xfrm>
          <a:custGeom>
            <a:avLst/>
            <a:gdLst/>
            <a:ahLst/>
            <a:cxnLst/>
            <a:rect l="l" t="t" r="r" b="b"/>
            <a:pathLst>
              <a:path w="3403600" h="129286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289300" y="0"/>
                </a:lnTo>
                <a:arcTo hR="114300" wR="114300" stAng="16200000" swAng="5400000"/>
                <a:lnTo>
                  <a:pt x="3403600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0" y="1577339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Ratings &amp; Potential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572000" y="1844039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↓OVA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Overall rating, 0 to 99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0" y="2080261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POT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Potential rating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0" y="231648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BOV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Rating at best position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394200" y="2794000"/>
            <a:ext cx="3403600" cy="1056640"/>
          </a:xfrm>
          <a:prstGeom prst="roundRect">
            <a:avLst>
              <a:gd name="adj" fmla="val 10817"/>
            </a:avLst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4394200" y="2794000"/>
            <a:ext cx="3403600" cy="1056640"/>
          </a:xfrm>
          <a:custGeom>
            <a:avLst/>
            <a:gdLst/>
            <a:ahLst/>
            <a:cxnLst/>
            <a:rect l="l" t="t" r="r" b="b"/>
            <a:pathLst>
              <a:path w="3403600" h="105664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289300" y="0"/>
                </a:lnTo>
                <a:arcTo hR="114300" wR="114300" stAng="16200000" swAng="5400000"/>
                <a:lnTo>
                  <a:pt x="3403600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0" y="29972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Position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572000" y="3263900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Positions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All playable positions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0" y="3500121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 Position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Single best position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75600" y="1374139"/>
            <a:ext cx="3403600" cy="1529080"/>
          </a:xfrm>
          <a:prstGeom prst="roundRect">
            <a:avLst>
              <a:gd name="adj" fmla="val 7475"/>
            </a:avLst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7975600" y="1374139"/>
            <a:ext cx="3403600" cy="1529080"/>
          </a:xfrm>
          <a:custGeom>
            <a:avLst/>
            <a:gdLst/>
            <a:ahLst/>
            <a:cxnLst/>
            <a:rect l="l" t="t" r="r" b="b"/>
            <a:pathLst>
              <a:path w="3403600" h="152908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289300" y="0"/>
                </a:lnTo>
                <a:arcTo hR="114300" wR="114300" stAng="16200000" swAng="5400000"/>
                <a:lnTo>
                  <a:pt x="3403600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30" name="Text 27"/>
          <p:cNvSpPr/>
          <p:nvPr/>
        </p:nvSpPr>
        <p:spPr>
          <a:xfrm>
            <a:off x="8153400" y="1577339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Club &amp; Contract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8153400" y="1844039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Club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Current club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153400" y="2080261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Contract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Text, e.g. 2018 ~ 2022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153400" y="231648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Joined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Date joined the club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153400" y="2552700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Loan Date End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Loan end, if on loan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975600" y="3030221"/>
            <a:ext cx="3403600" cy="1292860"/>
          </a:xfrm>
          <a:prstGeom prst="roundRect">
            <a:avLst>
              <a:gd name="adj" fmla="val 8841"/>
            </a:avLst>
          </a:prstGeom>
          <a:solidFill>
            <a:srgbClr val="FFFFFF"/>
          </a:solidFill>
          <a:ln/>
        </p:spPr>
      </p:sp>
      <p:sp>
        <p:nvSpPr>
          <p:cNvPr id="36" name="Shape 33"/>
          <p:cNvSpPr/>
          <p:nvPr/>
        </p:nvSpPr>
        <p:spPr>
          <a:xfrm>
            <a:off x="7975600" y="3030221"/>
            <a:ext cx="3403600" cy="1292860"/>
          </a:xfrm>
          <a:custGeom>
            <a:avLst/>
            <a:gdLst/>
            <a:ahLst/>
            <a:cxnLst/>
            <a:rect l="l" t="t" r="r" b="b"/>
            <a:pathLst>
              <a:path w="3403600" h="129286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289300" y="0"/>
                </a:lnTo>
                <a:arcTo hR="114300" wR="114300" stAng="16200000" swAng="5400000"/>
                <a:lnTo>
                  <a:pt x="3403600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37" name="Text 34"/>
          <p:cNvSpPr/>
          <p:nvPr/>
        </p:nvSpPr>
        <p:spPr>
          <a:xfrm>
            <a:off x="8153400" y="3233421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 &amp; Wages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8153400" y="3500121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Market value (text)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153400" y="3736339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Wage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Weekly wage (text)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153400" y="3972561"/>
            <a:ext cx="322580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Release Clause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Buyout amount (text)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12800" y="6202679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28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Column Dictionary 2/3: Skill Attributes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74142"/>
            <a:ext cx="3403600" cy="2001520"/>
          </a:xfrm>
          <a:prstGeom prst="roundRect">
            <a:avLst>
              <a:gd name="adj" fmla="val 5711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74142"/>
            <a:ext cx="3403600" cy="2001520"/>
          </a:xfrm>
          <a:custGeom>
            <a:avLst/>
            <a:gdLst/>
            <a:ahLst/>
            <a:cxnLst/>
            <a:rect l="l" t="t" r="r" b="b"/>
            <a:pathLst>
              <a:path w="3403600" h="200152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289300" y="0"/>
                </a:lnTo>
                <a:arcTo hR="114300" wR="114300" stAng="16200000" swAng="5400000"/>
                <a:lnTo>
                  <a:pt x="3403600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6" name="Text 3"/>
          <p:cNvSpPr/>
          <p:nvPr/>
        </p:nvSpPr>
        <p:spPr>
          <a:xfrm>
            <a:off x="990600" y="1577342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Attacking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90600" y="184404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Attacking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Group score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90600" y="2080264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Crossing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Crossing ability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90600" y="2316479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Finishing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Shot conversion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90600" y="2552700"/>
            <a:ext cx="322580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Heading Accuracy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Header accuracy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90600" y="2788921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Short Passing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Short pass accuracy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90600" y="302514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Volleys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Volley ability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2800" y="3502664"/>
            <a:ext cx="3403600" cy="2001520"/>
          </a:xfrm>
          <a:prstGeom prst="roundRect">
            <a:avLst>
              <a:gd name="adj" fmla="val 5711"/>
            </a:avLst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800" y="3502664"/>
            <a:ext cx="3403600" cy="2001520"/>
          </a:xfrm>
          <a:custGeom>
            <a:avLst/>
            <a:gdLst/>
            <a:ahLst/>
            <a:cxnLst/>
            <a:rect l="l" t="t" r="r" b="b"/>
            <a:pathLst>
              <a:path w="3403600" h="200152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289300" y="0"/>
                </a:lnTo>
                <a:arcTo hR="114300" wR="114300" stAng="16200000" swAng="5400000"/>
                <a:lnTo>
                  <a:pt x="3403600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5" name="Text 12"/>
          <p:cNvSpPr/>
          <p:nvPr/>
        </p:nvSpPr>
        <p:spPr>
          <a:xfrm>
            <a:off x="990600" y="3705864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Skill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90600" y="3972564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Skill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Group score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90600" y="4208779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Dribbling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Control while running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90600" y="4445000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Curve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Curving the ball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90600" y="4681221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FK Accuracy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Free-kick accuracy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90600" y="491744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Long Passing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Long pass accuracy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90600" y="5153664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Ball Control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General ball control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94200" y="1374142"/>
            <a:ext cx="3403600" cy="2001520"/>
          </a:xfrm>
          <a:prstGeom prst="roundRect">
            <a:avLst>
              <a:gd name="adj" fmla="val 5711"/>
            </a:avLst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4394200" y="1374142"/>
            <a:ext cx="3403600" cy="2001520"/>
          </a:xfrm>
          <a:custGeom>
            <a:avLst/>
            <a:gdLst/>
            <a:ahLst/>
            <a:cxnLst/>
            <a:rect l="l" t="t" r="r" b="b"/>
            <a:pathLst>
              <a:path w="3403600" h="200152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289300" y="0"/>
                </a:lnTo>
                <a:arcTo hR="114300" wR="114300" stAng="16200000" swAng="5400000"/>
                <a:lnTo>
                  <a:pt x="3403600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0" y="1577342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Movement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572000" y="184404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Movement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Group score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0" y="2080264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Acceleration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Speed to top speed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0" y="2316479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Speed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Top running speed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0" y="2552700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Agility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Direction changes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0" y="2788921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Reactions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Reaction speed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0" y="302514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Balance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Stability when turning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394200" y="3502664"/>
            <a:ext cx="3403600" cy="2001520"/>
          </a:xfrm>
          <a:prstGeom prst="roundRect">
            <a:avLst>
              <a:gd name="adj" fmla="val 5711"/>
            </a:avLst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4394200" y="3502664"/>
            <a:ext cx="3403600" cy="2001520"/>
          </a:xfrm>
          <a:custGeom>
            <a:avLst/>
            <a:gdLst/>
            <a:ahLst/>
            <a:cxnLst/>
            <a:rect l="l" t="t" r="r" b="b"/>
            <a:pathLst>
              <a:path w="3403600" h="200152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289300" y="0"/>
                </a:lnTo>
                <a:arcTo hR="114300" wR="114300" stAng="16200000" swAng="5400000"/>
                <a:lnTo>
                  <a:pt x="3403600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0" y="3705864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572000" y="3972564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Group score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72000" y="4208779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Shot Power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Shot strength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72000" y="4445000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Jumping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Jump ability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572000" y="4681221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Stamina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Match endurance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572000" y="491744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Strength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Strength in duels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572000" y="5153664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Long Shots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Accuracy from range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7975600" y="1374142"/>
            <a:ext cx="3403600" cy="2237740"/>
          </a:xfrm>
          <a:prstGeom prst="roundRect">
            <a:avLst>
              <a:gd name="adj" fmla="val 5108"/>
            </a:avLst>
          </a:prstGeom>
          <a:solidFill>
            <a:srgbClr val="FFFFFF"/>
          </a:solidFill>
          <a:ln/>
        </p:spPr>
      </p:sp>
      <p:sp>
        <p:nvSpPr>
          <p:cNvPr id="41" name="Shape 38"/>
          <p:cNvSpPr/>
          <p:nvPr/>
        </p:nvSpPr>
        <p:spPr>
          <a:xfrm>
            <a:off x="7975600" y="1374142"/>
            <a:ext cx="3403600" cy="2237740"/>
          </a:xfrm>
          <a:custGeom>
            <a:avLst/>
            <a:gdLst/>
            <a:ahLst/>
            <a:cxnLst/>
            <a:rect l="l" t="t" r="r" b="b"/>
            <a:pathLst>
              <a:path w="3403600" h="223774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289300" y="0"/>
                </a:lnTo>
                <a:arcTo hR="114300" wR="114300" stAng="16200000" swAng="5400000"/>
                <a:lnTo>
                  <a:pt x="3403600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42" name="Text 39"/>
          <p:cNvSpPr/>
          <p:nvPr/>
        </p:nvSpPr>
        <p:spPr>
          <a:xfrm>
            <a:off x="8153400" y="1577342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Mentality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8153400" y="184404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Mentality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Group score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8153400" y="2080264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Aggression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Challenge intensity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8153400" y="2316479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Interceptions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Reading passes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8153400" y="2552700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Positioning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Positioning sense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8153400" y="2788921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Vision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Spotting passes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8153400" y="302514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Penalties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Penalty taking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8153400" y="3261364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Composure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Calm under pressure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7975600" y="3738879"/>
            <a:ext cx="3403600" cy="1529080"/>
          </a:xfrm>
          <a:prstGeom prst="roundRect">
            <a:avLst>
              <a:gd name="adj" fmla="val 7475"/>
            </a:avLst>
          </a:prstGeom>
          <a:solidFill>
            <a:srgbClr val="FFFFFF"/>
          </a:solidFill>
          <a:ln/>
        </p:spPr>
      </p:sp>
      <p:sp>
        <p:nvSpPr>
          <p:cNvPr id="51" name="Shape 48"/>
          <p:cNvSpPr/>
          <p:nvPr/>
        </p:nvSpPr>
        <p:spPr>
          <a:xfrm>
            <a:off x="7975600" y="3738879"/>
            <a:ext cx="3403600" cy="1529080"/>
          </a:xfrm>
          <a:custGeom>
            <a:avLst/>
            <a:gdLst/>
            <a:ahLst/>
            <a:cxnLst/>
            <a:rect l="l" t="t" r="r" b="b"/>
            <a:pathLst>
              <a:path w="3403600" h="152908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289300" y="0"/>
                </a:lnTo>
                <a:arcTo hR="114300" wR="114300" stAng="16200000" swAng="5400000"/>
                <a:lnTo>
                  <a:pt x="3403600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52" name="Text 49"/>
          <p:cNvSpPr/>
          <p:nvPr/>
        </p:nvSpPr>
        <p:spPr>
          <a:xfrm>
            <a:off x="8153400" y="3942079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Defending</a:t>
            </a:r>
            <a:endParaRPr lang="en-US" sz="1500" dirty="0"/>
          </a:p>
        </p:txBody>
      </p:sp>
      <p:sp>
        <p:nvSpPr>
          <p:cNvPr id="53" name="Text 50"/>
          <p:cNvSpPr/>
          <p:nvPr/>
        </p:nvSpPr>
        <p:spPr>
          <a:xfrm>
            <a:off x="8153400" y="4208779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Defending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Group score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8153400" y="4445000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Marking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Marking opponents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8153400" y="4681221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Standing Tackle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Standing tackles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8153400" y="491744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Sliding Tackle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Sliding tackles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812800" y="6202679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28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Column Dictionary 3/3: GK, Summary, Core Six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74142"/>
            <a:ext cx="3403600" cy="2001520"/>
          </a:xfrm>
          <a:prstGeom prst="roundRect">
            <a:avLst>
              <a:gd name="adj" fmla="val 5711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74142"/>
            <a:ext cx="3403600" cy="2001520"/>
          </a:xfrm>
          <a:custGeom>
            <a:avLst/>
            <a:gdLst/>
            <a:ahLst/>
            <a:cxnLst/>
            <a:rect l="l" t="t" r="r" b="b"/>
            <a:pathLst>
              <a:path w="3403600" h="200152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289300" y="0"/>
                </a:lnTo>
                <a:arcTo hR="114300" wR="114300" stAng="16200000" swAng="5400000"/>
                <a:lnTo>
                  <a:pt x="3403600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6" name="Text 3"/>
          <p:cNvSpPr/>
          <p:nvPr/>
        </p:nvSpPr>
        <p:spPr>
          <a:xfrm>
            <a:off x="990600" y="1577342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Goalkeeping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90600" y="184404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Goalkeeping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Group GK score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90600" y="2080264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GK Diving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Diving ability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90600" y="2316479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GK Handling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Catching ability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90600" y="2552700"/>
            <a:ext cx="322580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GK Kicking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Kick power and accuracy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90600" y="2788921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GK Positioning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GK positioning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90600" y="302514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GK Reflexes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Reflex saves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2800" y="3502664"/>
            <a:ext cx="3403600" cy="1056640"/>
          </a:xfrm>
          <a:prstGeom prst="roundRect">
            <a:avLst>
              <a:gd name="adj" fmla="val 10817"/>
            </a:avLst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800" y="3502664"/>
            <a:ext cx="3403600" cy="1056640"/>
          </a:xfrm>
          <a:custGeom>
            <a:avLst/>
            <a:gdLst/>
            <a:ahLst/>
            <a:cxnLst/>
            <a:rect l="l" t="t" r="r" b="b"/>
            <a:pathLst>
              <a:path w="3403600" h="105664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289300" y="0"/>
                </a:lnTo>
                <a:arcTo hR="114300" wR="114300" stAng="16200000" swAng="5400000"/>
                <a:lnTo>
                  <a:pt x="3403600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5" name="Text 12"/>
          <p:cNvSpPr/>
          <p:nvPr/>
        </p:nvSpPr>
        <p:spPr>
          <a:xfrm>
            <a:off x="990600" y="3705864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Summary Stats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90600" y="3972564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Stats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Sum of 34 attributes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90600" y="4208779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 Stats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Sum of six core stats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94200" y="1374142"/>
            <a:ext cx="3403600" cy="1292860"/>
          </a:xfrm>
          <a:prstGeom prst="roundRect">
            <a:avLst>
              <a:gd name="adj" fmla="val 8841"/>
            </a:avLst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394200" y="1374142"/>
            <a:ext cx="3403600" cy="1292860"/>
          </a:xfrm>
          <a:custGeom>
            <a:avLst/>
            <a:gdLst/>
            <a:ahLst/>
            <a:cxnLst/>
            <a:rect l="l" t="t" r="r" b="b"/>
            <a:pathLst>
              <a:path w="3403600" h="129286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289300" y="0"/>
                </a:lnTo>
                <a:arcTo hR="114300" wR="114300" stAng="16200000" swAng="5400000"/>
                <a:lnTo>
                  <a:pt x="3403600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0" y="1577342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 Ratings (text, 1 to 5)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72000" y="184404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W/F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Weak foot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0" y="2080264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Skill moves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0" y="2316479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IR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International reputation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394200" y="2794000"/>
            <a:ext cx="3403600" cy="1285240"/>
          </a:xfrm>
          <a:prstGeom prst="roundRect">
            <a:avLst>
              <a:gd name="adj" fmla="val 8893"/>
            </a:avLst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4394200" y="2794000"/>
            <a:ext cx="3403600" cy="1285240"/>
          </a:xfrm>
          <a:custGeom>
            <a:avLst/>
            <a:gdLst/>
            <a:ahLst/>
            <a:cxnLst/>
            <a:rect l="l" t="t" r="r" b="b"/>
            <a:pathLst>
              <a:path w="3403600" h="128524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289300" y="0"/>
                </a:lnTo>
                <a:arcTo hR="114300" wR="114300" stAng="16200000" swAng="5400000"/>
                <a:lnTo>
                  <a:pt x="3403600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0" y="2997200"/>
            <a:ext cx="313944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 Rates (Low/Medium/High)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572000" y="3492500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A/W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Attacking work rate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0" y="3728721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D/W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Defensive work rate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394200" y="4206242"/>
            <a:ext cx="3403600" cy="820420"/>
          </a:xfrm>
          <a:prstGeom prst="roundRect">
            <a:avLst>
              <a:gd name="adj" fmla="val 13932"/>
            </a:avLst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4394200" y="4206242"/>
            <a:ext cx="3403600" cy="820420"/>
          </a:xfrm>
          <a:custGeom>
            <a:avLst/>
            <a:gdLst/>
            <a:ahLst/>
            <a:cxnLst/>
            <a:rect l="l" t="t" r="r" b="b"/>
            <a:pathLst>
              <a:path w="3403600" h="82042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289300" y="0"/>
                </a:lnTo>
                <a:arcTo hR="114300" wR="114300" stAng="16200000" swAng="5400000"/>
                <a:lnTo>
                  <a:pt x="3403600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0" y="4409442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Popularity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4572000" y="467614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Hits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Page views on sofifa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975600" y="1374142"/>
            <a:ext cx="3403600" cy="2001520"/>
          </a:xfrm>
          <a:prstGeom prst="roundRect">
            <a:avLst>
              <a:gd name="adj" fmla="val 5711"/>
            </a:avLst>
          </a:prstGeom>
          <a:solidFill>
            <a:srgbClr val="FFFFFF"/>
          </a:solidFill>
          <a:ln/>
        </p:spPr>
      </p:sp>
      <p:sp>
        <p:nvSpPr>
          <p:cNvPr id="34" name="Shape 31"/>
          <p:cNvSpPr/>
          <p:nvPr/>
        </p:nvSpPr>
        <p:spPr>
          <a:xfrm>
            <a:off x="7975600" y="1374142"/>
            <a:ext cx="3403600" cy="2001520"/>
          </a:xfrm>
          <a:custGeom>
            <a:avLst/>
            <a:gdLst/>
            <a:ahLst/>
            <a:cxnLst/>
            <a:rect l="l" t="t" r="r" b="b"/>
            <a:pathLst>
              <a:path w="3403600" h="200152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3289300" y="0"/>
                </a:lnTo>
                <a:arcTo hR="114300" wR="114300" stAng="16200000" swAng="5400000"/>
                <a:lnTo>
                  <a:pt x="3403600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35" name="Text 32"/>
          <p:cNvSpPr/>
          <p:nvPr/>
        </p:nvSpPr>
        <p:spPr>
          <a:xfrm>
            <a:off x="8153400" y="1577342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FIFA Core Six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153400" y="184404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Pace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153400" y="2080264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Shooting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153400" y="2316479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Passing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153400" y="2552700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Dribbling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153400" y="2788921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Defending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153400" y="3025142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PHY</a:t>
            </a:r>
            <a:r>
              <a:rPr lang="en-US" sz="1200" dirty="0">
                <a:solidFill>
                  <a:srgbClr val="3B4C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Physical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12800" y="6202679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/ 28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df.describe(): Numerical Columns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74142"/>
            <a:ext cx="9906000" cy="3829050"/>
          </a:xfrm>
          <a:prstGeom prst="roundRect">
            <a:avLst>
              <a:gd name="adj" fmla="val 2322"/>
            </a:avLst>
          </a:prstGeom>
          <a:solidFill>
            <a:srgbClr val="FFFFFF"/>
          </a:solidFill>
          <a:ln/>
        </p:spPr>
      </p:sp>
      <p:pic>
        <p:nvPicPr>
          <p:cNvPr id="5" name="Image 1" descr="df.describe(): Numerical Columns">    </p:cNvPr>
          <p:cNvPicPr>
            <a:picLocks noChangeAspect="1"/>
          </p:cNvPicPr>
          <p:nvPr/>
        </p:nvPicPr>
        <p:blipFill>
          <a:blip r:embed="rId2"/>
          <a:srcRect l="0" r="0" t="-11" b="-11"/>
          <a:stretch/>
        </p:blipFill>
        <p:spPr>
          <a:xfrm>
            <a:off x="812800" y="1374142"/>
            <a:ext cx="9906000" cy="3829050"/>
          </a:xfrm>
          <a:prstGeom prst="roundRect">
            <a:avLst>
              <a:gd name="adj" fmla="val 2322"/>
            </a:avLst>
          </a:prstGeom>
        </p:spPr>
      </p:pic>
      <p:sp>
        <p:nvSpPr>
          <p:cNvPr id="6" name="Text 2"/>
          <p:cNvSpPr/>
          <p:nvPr/>
        </p:nvSpPr>
        <p:spPr>
          <a:xfrm>
            <a:off x="812800" y="6202679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/ 28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df.describe(): Categorical Columns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74142"/>
            <a:ext cx="9906000" cy="4121150"/>
          </a:xfrm>
          <a:prstGeom prst="roundRect">
            <a:avLst>
              <a:gd name="adj" fmla="val 2157"/>
            </a:avLst>
          </a:prstGeom>
          <a:solidFill>
            <a:srgbClr val="FFFFFF"/>
          </a:solidFill>
          <a:ln/>
        </p:spPr>
      </p:sp>
      <p:pic>
        <p:nvPicPr>
          <p:cNvPr id="5" name="Image 1" descr="df.describe(): Categorical Columns">    </p:cNvPr>
          <p:cNvPicPr>
            <a:picLocks noChangeAspect="1"/>
          </p:cNvPicPr>
          <p:nvPr/>
        </p:nvPicPr>
        <p:blipFill>
          <a:blip r:embed="rId2"/>
          <a:srcRect l="-54" r="-54" t="0" b="0"/>
          <a:stretch/>
        </p:blipFill>
        <p:spPr>
          <a:xfrm>
            <a:off x="812800" y="1374142"/>
            <a:ext cx="9906000" cy="4121150"/>
          </a:xfrm>
          <a:prstGeom prst="roundRect">
            <a:avLst>
              <a:gd name="adj" fmla="val 2157"/>
            </a:avLst>
          </a:prstGeom>
        </p:spPr>
      </p:pic>
      <p:sp>
        <p:nvSpPr>
          <p:cNvPr id="6" name="Text 2"/>
          <p:cNvSpPr/>
          <p:nvPr/>
        </p:nvSpPr>
        <p:spPr>
          <a:xfrm>
            <a:off x="812800" y="6202679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28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Problems Found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99542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99542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6" name="Text 3"/>
          <p:cNvSpPr/>
          <p:nvPr/>
        </p:nvSpPr>
        <p:spPr>
          <a:xfrm>
            <a:off x="1041400" y="1678942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 characters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41400" y="2014221"/>
            <a:ext cx="30347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Club has line breaks and spaces in 18,742 rows; 237 players are marked "No Club".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4200" y="1399542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9" name="Shape 6"/>
          <p:cNvSpPr/>
          <p:nvPr/>
        </p:nvSpPr>
        <p:spPr>
          <a:xfrm>
            <a:off x="4394200" y="1399542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0" name="Text 7"/>
          <p:cNvSpPr/>
          <p:nvPr/>
        </p:nvSpPr>
        <p:spPr>
          <a:xfrm>
            <a:off x="4622800" y="1678942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 instead of numbers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22800" y="2014221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Value, Wage and Release Clause look like "€103.5M" and "€560K".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75600" y="1399542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13" name="Shape 10"/>
          <p:cNvSpPr/>
          <p:nvPr/>
        </p:nvSpPr>
        <p:spPr>
          <a:xfrm>
            <a:off x="7975600" y="1399542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4" name="Text 11"/>
          <p:cNvSpPr/>
          <p:nvPr/>
        </p:nvSpPr>
        <p:spPr>
          <a:xfrm>
            <a:off x="8204200" y="1678942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Mixed units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04200" y="2014221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Height in cm or feet and inches (40 rows); Weight in kg or lbs (40 rows).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2800" y="3089275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17" name="Shape 14"/>
          <p:cNvSpPr/>
          <p:nvPr/>
        </p:nvSpPr>
        <p:spPr>
          <a:xfrm>
            <a:off x="812800" y="3089275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8" name="Text 15"/>
          <p:cNvSpPr/>
          <p:nvPr/>
        </p:nvSpPr>
        <p:spPr>
          <a:xfrm>
            <a:off x="1041400" y="3368675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Stars as text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41400" y="3703954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W/F, SM and IR hold values like "4 ★" and "4★".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394200" y="3089275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21" name="Shape 18"/>
          <p:cNvSpPr/>
          <p:nvPr/>
        </p:nvSpPr>
        <p:spPr>
          <a:xfrm>
            <a:off x="4394200" y="3089275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22" name="Text 19"/>
          <p:cNvSpPr/>
          <p:nvPr/>
        </p:nvSpPr>
        <p:spPr>
          <a:xfrm>
            <a:off x="4622800" y="3368675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Missing values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622800" y="3703954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Loan Date End is empty in 17,966 rows; Hits is empty in 2,595 rows.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975600" y="3089275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25" name="Shape 22"/>
          <p:cNvSpPr/>
          <p:nvPr/>
        </p:nvSpPr>
        <p:spPr>
          <a:xfrm>
            <a:off x="7975600" y="3089275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26" name="Text 23"/>
          <p:cNvSpPr/>
          <p:nvPr/>
        </p:nvSpPr>
        <p:spPr>
          <a:xfrm>
            <a:off x="8204200" y="3368675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Awkward formats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204200" y="3703954"/>
            <a:ext cx="30347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Contract is text ("2004 ~ 2021"), Joined is text, the OVA header is "↓OVA", Hits has a K suffix.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12800" y="6202679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/ 28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Understanding: Overview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99542"/>
            <a:ext cx="2489200" cy="15748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99542"/>
            <a:ext cx="2489200" cy="1574800"/>
          </a:xfrm>
          <a:custGeom>
            <a:avLst/>
            <a:gdLst/>
            <a:ahLst/>
            <a:cxnLst/>
            <a:rect l="l" t="t" r="r" b="b"/>
            <a:pathLst>
              <a:path w="2489200" h="1574800">
                <a:moveTo>
                  <a:pt x="127000" y="1574800"/>
                </a:moveTo>
                <a:lnTo>
                  <a:pt x="127000" y="15748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447800"/>
                </a:lnTo>
                <a:arcTo hR="127000" wR="76200" stAng="108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6" name="Text 3"/>
          <p:cNvSpPr/>
          <p:nvPr/>
        </p:nvSpPr>
        <p:spPr>
          <a:xfrm>
            <a:off x="1092200" y="1628142"/>
            <a:ext cx="2040636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19A9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25.2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092200" y="2283464"/>
            <a:ext cx="204063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Average age (16 to 53)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505200" y="1399542"/>
            <a:ext cx="2489200" cy="15748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3505200" y="1399542"/>
            <a:ext cx="2489200" cy="1574800"/>
          </a:xfrm>
          <a:custGeom>
            <a:avLst/>
            <a:gdLst/>
            <a:ahLst/>
            <a:cxnLst/>
            <a:rect l="l" t="t" r="r" b="b"/>
            <a:pathLst>
              <a:path w="2489200" h="1574800">
                <a:moveTo>
                  <a:pt x="127000" y="1574800"/>
                </a:moveTo>
                <a:lnTo>
                  <a:pt x="127000" y="15748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447800"/>
                </a:lnTo>
                <a:arcTo hR="127000" wR="76200" stAng="108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0" name="Text 7"/>
          <p:cNvSpPr/>
          <p:nvPr/>
        </p:nvSpPr>
        <p:spPr>
          <a:xfrm>
            <a:off x="3784600" y="1628142"/>
            <a:ext cx="2040636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65.7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784600" y="2283464"/>
            <a:ext cx="20406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Average overall rating, OVA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97600" y="1399542"/>
            <a:ext cx="2489200" cy="15748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197600" y="1399542"/>
            <a:ext cx="2489200" cy="1574800"/>
          </a:xfrm>
          <a:custGeom>
            <a:avLst/>
            <a:gdLst/>
            <a:ahLst/>
            <a:cxnLst/>
            <a:rect l="l" t="t" r="r" b="b"/>
            <a:pathLst>
              <a:path w="2489200" h="1574800">
                <a:moveTo>
                  <a:pt x="127000" y="1574800"/>
                </a:moveTo>
                <a:lnTo>
                  <a:pt x="127000" y="15748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447800"/>
                </a:lnTo>
                <a:arcTo hR="127000" wR="76200" stAng="108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4" name="Text 11"/>
          <p:cNvSpPr/>
          <p:nvPr/>
        </p:nvSpPr>
        <p:spPr>
          <a:xfrm>
            <a:off x="6477000" y="1628142"/>
            <a:ext cx="2040636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19A9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506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477000" y="2283464"/>
            <a:ext cx="20406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Players with OVA 80 or higher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890000" y="1399542"/>
            <a:ext cx="2489200" cy="15748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8890000" y="1399542"/>
            <a:ext cx="2489200" cy="1574800"/>
          </a:xfrm>
          <a:custGeom>
            <a:avLst/>
            <a:gdLst/>
            <a:ahLst/>
            <a:cxnLst/>
            <a:rect l="l" t="t" r="r" b="b"/>
            <a:pathLst>
              <a:path w="2489200" h="1574800">
                <a:moveTo>
                  <a:pt x="127000" y="1574800"/>
                </a:moveTo>
                <a:lnTo>
                  <a:pt x="127000" y="15748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447800"/>
                </a:lnTo>
                <a:arcTo hR="127000" wR="76200" stAng="108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8" name="Text 15"/>
          <p:cNvSpPr/>
          <p:nvPr/>
        </p:nvSpPr>
        <p:spPr>
          <a:xfrm>
            <a:off x="9169400" y="1628142"/>
            <a:ext cx="2040636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9169400" y="2283464"/>
            <a:ext cx="204063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Duplicate rows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12800" y="3228342"/>
            <a:ext cx="3386614" cy="1511935"/>
          </a:xfrm>
          <a:prstGeom prst="roundRect">
            <a:avLst>
              <a:gd name="adj" fmla="val 8400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812800" y="3228342"/>
            <a:ext cx="3386614" cy="1511935"/>
          </a:xfrm>
          <a:custGeom>
            <a:avLst/>
            <a:gdLst/>
            <a:ahLst/>
            <a:cxnLst/>
            <a:rect l="l" t="t" r="r" b="b"/>
            <a:pathLst>
              <a:path w="3386614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14" y="0"/>
                </a:lnTo>
                <a:arcTo hR="127000" wR="127000" stAng="16200000" swAng="5400000"/>
                <a:lnTo>
                  <a:pt x="338661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22" name="Text 19"/>
          <p:cNvSpPr/>
          <p:nvPr/>
        </p:nvSpPr>
        <p:spPr>
          <a:xfrm>
            <a:off x="1041400" y="3507742"/>
            <a:ext cx="301729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Youngest and oldest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041400" y="3843021"/>
            <a:ext cx="301729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R. Cherki is the youngest at 16; K. Miura is the oldest at 53.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402614" y="3228342"/>
            <a:ext cx="3386693" cy="1511935"/>
          </a:xfrm>
          <a:prstGeom prst="roundRect">
            <a:avLst>
              <a:gd name="adj" fmla="val 8400"/>
            </a:avLst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4402614" y="3228342"/>
            <a:ext cx="3386693" cy="1511935"/>
          </a:xfrm>
          <a:custGeom>
            <a:avLst/>
            <a:gdLst/>
            <a:ahLst/>
            <a:cxnLst/>
            <a:rect l="l" t="t" r="r" b="b"/>
            <a:pathLst>
              <a:path w="3386693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93" y="0"/>
                </a:lnTo>
                <a:arcTo hR="127000" wR="127000" stAng="16200000" swAng="5400000"/>
                <a:lnTo>
                  <a:pt x="3386693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26" name="Text 23"/>
          <p:cNvSpPr/>
          <p:nvPr/>
        </p:nvSpPr>
        <p:spPr>
          <a:xfrm>
            <a:off x="4631214" y="3507742"/>
            <a:ext cx="301737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rated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4631214" y="3843021"/>
            <a:ext cx="3017378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L. Messi (93) and Cristiano Ronaldo (92).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992507" y="3228342"/>
            <a:ext cx="3386693" cy="1511935"/>
          </a:xfrm>
          <a:prstGeom prst="roundRect">
            <a:avLst>
              <a:gd name="adj" fmla="val 8400"/>
            </a:avLst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7992507" y="3228342"/>
            <a:ext cx="3386693" cy="1511935"/>
          </a:xfrm>
          <a:custGeom>
            <a:avLst/>
            <a:gdLst/>
            <a:ahLst/>
            <a:cxnLst/>
            <a:rect l="l" t="t" r="r" b="b"/>
            <a:pathLst>
              <a:path w="3386693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93" y="0"/>
                </a:lnTo>
                <a:arcTo hR="127000" wR="127000" stAng="16200000" swAng="5400000"/>
                <a:lnTo>
                  <a:pt x="3386693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30" name="Text 27"/>
          <p:cNvSpPr/>
          <p:nvPr/>
        </p:nvSpPr>
        <p:spPr>
          <a:xfrm>
            <a:off x="8221107" y="3507742"/>
            <a:ext cx="301737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Checks run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8221107" y="3843021"/>
            <a:ext cx="3017378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info, describe, duplicates, missing percentages, unique values of every column.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12800" y="6202679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/ 28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Cleaning: Steps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99542"/>
            <a:ext cx="3403600" cy="1289050"/>
          </a:xfrm>
          <a:prstGeom prst="roundRect">
            <a:avLst>
              <a:gd name="adj" fmla="val 9852"/>
            </a:avLst>
          </a:prstGeom>
          <a:solidFill>
            <a:srgbClr val="16335C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99542"/>
            <a:ext cx="3403600" cy="1289050"/>
          </a:xfrm>
          <a:custGeom>
            <a:avLst/>
            <a:gdLst/>
            <a:ahLst/>
            <a:cxnLst/>
            <a:rect l="l" t="t" r="r" b="b"/>
            <a:pathLst>
              <a:path w="3403600" h="128905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6" name="Text 3"/>
          <p:cNvSpPr/>
          <p:nvPr/>
        </p:nvSpPr>
        <p:spPr>
          <a:xfrm>
            <a:off x="1041400" y="1678942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Drop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41400" y="2014221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ID, photoUrl, playerUrl, Loan Date End and the raw Contract column.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4200" y="1399542"/>
            <a:ext cx="3403600" cy="1289050"/>
          </a:xfrm>
          <a:prstGeom prst="roundRect">
            <a:avLst>
              <a:gd name="adj" fmla="val 9852"/>
            </a:avLst>
          </a:prstGeom>
          <a:solidFill>
            <a:srgbClr val="16335C"/>
          </a:solidFill>
          <a:ln/>
        </p:spPr>
      </p:sp>
      <p:sp>
        <p:nvSpPr>
          <p:cNvPr id="9" name="Shape 6"/>
          <p:cNvSpPr/>
          <p:nvPr/>
        </p:nvSpPr>
        <p:spPr>
          <a:xfrm>
            <a:off x="4394200" y="1399542"/>
            <a:ext cx="3403600" cy="1289050"/>
          </a:xfrm>
          <a:custGeom>
            <a:avLst/>
            <a:gdLst/>
            <a:ahLst/>
            <a:cxnLst/>
            <a:rect l="l" t="t" r="r" b="b"/>
            <a:pathLst>
              <a:path w="3403600" h="128905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0" name="Text 7"/>
          <p:cNvSpPr/>
          <p:nvPr/>
        </p:nvSpPr>
        <p:spPr>
          <a:xfrm>
            <a:off x="4622800" y="1678942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Club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22800" y="2014221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Strip whitespace; "No Club" becomes missing.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75600" y="1399542"/>
            <a:ext cx="3403600" cy="1289050"/>
          </a:xfrm>
          <a:prstGeom prst="roundRect">
            <a:avLst>
              <a:gd name="adj" fmla="val 9852"/>
            </a:avLst>
          </a:prstGeom>
          <a:solidFill>
            <a:srgbClr val="16335C"/>
          </a:solidFill>
          <a:ln/>
        </p:spPr>
      </p:sp>
      <p:sp>
        <p:nvSpPr>
          <p:cNvPr id="13" name="Shape 10"/>
          <p:cNvSpPr/>
          <p:nvPr/>
        </p:nvSpPr>
        <p:spPr>
          <a:xfrm>
            <a:off x="7975600" y="1399542"/>
            <a:ext cx="3403600" cy="1289050"/>
          </a:xfrm>
          <a:custGeom>
            <a:avLst/>
            <a:gdLst/>
            <a:ahLst/>
            <a:cxnLst/>
            <a:rect l="l" t="t" r="r" b="b"/>
            <a:pathLst>
              <a:path w="3403600" h="128905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4" name="Text 11"/>
          <p:cNvSpPr/>
          <p:nvPr/>
        </p:nvSpPr>
        <p:spPr>
          <a:xfrm>
            <a:off x="8204200" y="1678942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Contract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04200" y="2014221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Split into Contract_Start and Contract_End years.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2800" y="2866392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17" name="Shape 14"/>
          <p:cNvSpPr/>
          <p:nvPr/>
        </p:nvSpPr>
        <p:spPr>
          <a:xfrm>
            <a:off x="812800" y="2866392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8" name="Text 15"/>
          <p:cNvSpPr/>
          <p:nvPr/>
        </p:nvSpPr>
        <p:spPr>
          <a:xfrm>
            <a:off x="1041400" y="3145792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Units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41400" y="3481071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Height to cm and Weight to kg, converting feet/inches and lbs.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394200" y="2866392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21" name="Shape 18"/>
          <p:cNvSpPr/>
          <p:nvPr/>
        </p:nvSpPr>
        <p:spPr>
          <a:xfrm>
            <a:off x="4394200" y="2866392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22" name="Text 19"/>
          <p:cNvSpPr/>
          <p:nvPr/>
        </p:nvSpPr>
        <p:spPr>
          <a:xfrm>
            <a:off x="4622800" y="3145792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Money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622800" y="3481071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 € and convert K and M to real numbers.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975600" y="2866392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25" name="Shape 22"/>
          <p:cNvSpPr/>
          <p:nvPr/>
        </p:nvSpPr>
        <p:spPr>
          <a:xfrm>
            <a:off x="7975600" y="2866392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26" name="Text 23"/>
          <p:cNvSpPr/>
          <p:nvPr/>
        </p:nvSpPr>
        <p:spPr>
          <a:xfrm>
            <a:off x="8204200" y="3145792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Types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204200" y="3481071"/>
            <a:ext cx="30347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Stars to integers, Joined to datetime, Hits K to numbers, "↓OVA" renamed OVA.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12800" y="6202679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/ 28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Cleaning Result and New Feature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99542"/>
            <a:ext cx="5181600" cy="1289050"/>
          </a:xfrm>
          <a:prstGeom prst="roundRect">
            <a:avLst>
              <a:gd name="adj" fmla="val 9852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99542"/>
            <a:ext cx="5181600" cy="1289050"/>
          </a:xfrm>
          <a:custGeom>
            <a:avLst/>
            <a:gdLst/>
            <a:ahLst/>
            <a:cxnLst/>
            <a:rect l="l" t="t" r="r" b="b"/>
            <a:pathLst>
              <a:path w="5181600" h="128905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6" name="Text 3"/>
          <p:cNvSpPr/>
          <p:nvPr/>
        </p:nvSpPr>
        <p:spPr>
          <a:xfrm>
            <a:off x="1041400" y="1678942"/>
            <a:ext cx="48661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41400" y="2014227"/>
            <a:ext cx="486613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 columns, mixed units, hidden line breaks, 77 raw columns.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97600" y="1399542"/>
            <a:ext cx="5181600" cy="1289050"/>
          </a:xfrm>
          <a:prstGeom prst="roundRect">
            <a:avLst>
              <a:gd name="adj" fmla="val 9852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6197600" y="1399542"/>
            <a:ext cx="5181600" cy="1289050"/>
          </a:xfrm>
          <a:custGeom>
            <a:avLst/>
            <a:gdLst/>
            <a:ahLst/>
            <a:cxnLst/>
            <a:rect l="l" t="t" r="r" b="b"/>
            <a:pathLst>
              <a:path w="5181600" h="128905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0" name="Text 7"/>
          <p:cNvSpPr/>
          <p:nvPr/>
        </p:nvSpPr>
        <p:spPr>
          <a:xfrm>
            <a:off x="6426200" y="1678942"/>
            <a:ext cx="48661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26200" y="2014227"/>
            <a:ext cx="486613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Numeric and datetime columns, one unit per column, ready for statistics and charts.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2800" y="2942592"/>
            <a:ext cx="5181600" cy="1511935"/>
          </a:xfrm>
          <a:prstGeom prst="roundRect">
            <a:avLst>
              <a:gd name="adj" fmla="val 8400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812800" y="2942592"/>
            <a:ext cx="5181600" cy="1511935"/>
          </a:xfrm>
          <a:custGeom>
            <a:avLst/>
            <a:gdLst/>
            <a:ahLst/>
            <a:cxnLst/>
            <a:rect l="l" t="t" r="r" b="b"/>
            <a:pathLst>
              <a:path w="5181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4" name="Text 11"/>
          <p:cNvSpPr/>
          <p:nvPr/>
        </p:nvSpPr>
        <p:spPr>
          <a:xfrm>
            <a:off x="1041400" y="3221992"/>
            <a:ext cx="48661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feature: difference_OVA_POT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041400" y="3557277"/>
            <a:ext cx="486613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POT minus OVA shows how much room each player has to grow. Largest gap: B. Arrey-Mbi, age 17, rated 60 with potential 86 (+26).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97600" y="2942592"/>
            <a:ext cx="5181600" cy="1511935"/>
          </a:xfrm>
          <a:prstGeom prst="roundRect">
            <a:avLst>
              <a:gd name="adj" fmla="val 8400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6197600" y="2942592"/>
            <a:ext cx="5181600" cy="1511935"/>
          </a:xfrm>
          <a:custGeom>
            <a:avLst/>
            <a:gdLst/>
            <a:ahLst/>
            <a:cxnLst/>
            <a:rect l="l" t="t" r="r" b="b"/>
            <a:pathLst>
              <a:path w="5181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8" name="Text 15"/>
          <p:cNvSpPr/>
          <p:nvPr/>
        </p:nvSpPr>
        <p:spPr>
          <a:xfrm>
            <a:off x="6426200" y="3221992"/>
            <a:ext cx="48661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Documented in code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426200" y="3557277"/>
            <a:ext cx="486613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step is a small function (contract years, height, weight, money, hits) so the cleaning is repeatable.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12800" y="6202685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/ 28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Analysis Steps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99542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99542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6" name="Text 3"/>
          <p:cNvSpPr/>
          <p:nvPr/>
        </p:nvSpPr>
        <p:spPr>
          <a:xfrm>
            <a:off x="1041400" y="1678942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Load and inspect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41400" y="2014227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read_csv, info, describe, duplicates, missing percentages.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4200" y="1399542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9" name="Shape 6"/>
          <p:cNvSpPr/>
          <p:nvPr/>
        </p:nvSpPr>
        <p:spPr>
          <a:xfrm>
            <a:off x="4394200" y="1399542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0" name="Text 7"/>
          <p:cNvSpPr/>
          <p:nvPr/>
        </p:nvSpPr>
        <p:spPr>
          <a:xfrm>
            <a:off x="4622800" y="1678942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Clean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22800" y="2014227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 text, units, missing values and names; add difference_OVA_POT.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75600" y="1399542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13" name="Shape 10"/>
          <p:cNvSpPr/>
          <p:nvPr/>
        </p:nvSpPr>
        <p:spPr>
          <a:xfrm>
            <a:off x="7975600" y="1399542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4" name="Text 11"/>
          <p:cNvSpPr/>
          <p:nvPr/>
        </p:nvSpPr>
        <p:spPr>
          <a:xfrm>
            <a:off x="8204200" y="1678942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Univariate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04200" y="2014227"/>
            <a:ext cx="30347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Age, OVA, Height, Weight, Preferred Foot and Best Position, one at a time.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2800" y="3089275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17" name="Shape 14"/>
          <p:cNvSpPr/>
          <p:nvPr/>
        </p:nvSpPr>
        <p:spPr>
          <a:xfrm>
            <a:off x="812800" y="3089275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8" name="Text 15"/>
          <p:cNvSpPr/>
          <p:nvPr/>
        </p:nvSpPr>
        <p:spPr>
          <a:xfrm>
            <a:off x="1041400" y="3368675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Bivariate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41400" y="3703960"/>
            <a:ext cx="30347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OVA against Value, Age and POT; averages by foot, nationality and club.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394200" y="3089275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21" name="Shape 18"/>
          <p:cNvSpPr/>
          <p:nvPr/>
        </p:nvSpPr>
        <p:spPr>
          <a:xfrm>
            <a:off x="4394200" y="3089275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22" name="Text 19"/>
          <p:cNvSpPr/>
          <p:nvPr/>
        </p:nvSpPr>
        <p:spPr>
          <a:xfrm>
            <a:off x="4622800" y="3368675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Multivariate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622800" y="370396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Correlation heatmap and OVA vs POT colored by Age.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975600" y="3089275"/>
            <a:ext cx="3403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25" name="Shape 22"/>
          <p:cNvSpPr/>
          <p:nvPr/>
        </p:nvSpPr>
        <p:spPr>
          <a:xfrm>
            <a:off x="7975600" y="3089275"/>
            <a:ext cx="3403600" cy="1511935"/>
          </a:xfrm>
          <a:custGeom>
            <a:avLst/>
            <a:gdLst/>
            <a:ahLst/>
            <a:cxnLst/>
            <a:rect l="l" t="t" r="r" b="b"/>
            <a:pathLst>
              <a:path w="3403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26" name="Text 23"/>
          <p:cNvSpPr/>
          <p:nvPr/>
        </p:nvSpPr>
        <p:spPr>
          <a:xfrm>
            <a:off x="8204200" y="3368675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Dashboard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204200" y="3703960"/>
            <a:ext cx="30347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Streamlit app with filters, KPIs and six tabs. Plot types used: histogram, box, bar, line, scatter, heatmap.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12800" y="6202685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/ 28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Univariate Analysis: Six Variables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99542"/>
            <a:ext cx="10566400" cy="419100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/>
        </p:spPr>
      </p:sp>
      <p:pic>
        <p:nvPicPr>
          <p:cNvPr id="5" name="Image 1" descr="Univariate charts of six variable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1399542"/>
            <a:ext cx="10566400" cy="4191000"/>
          </a:xfrm>
          <a:prstGeom prst="roundRect">
            <a:avLst>
              <a:gd name="adj" fmla="val 2121"/>
            </a:avLst>
          </a:prstGeom>
        </p:spPr>
      </p:pic>
      <p:sp>
        <p:nvSpPr>
          <p:cNvPr id="6" name="Text 2"/>
          <p:cNvSpPr/>
          <p:nvPr/>
        </p:nvSpPr>
        <p:spPr>
          <a:xfrm>
            <a:off x="812800" y="6202685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/ 28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Bivariate Analysis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99542"/>
            <a:ext cx="10566400" cy="330200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/>
        </p:spPr>
      </p:sp>
      <p:pic>
        <p:nvPicPr>
          <p:cNvPr id="5" name="Image 1" descr="Bivariate charts of OVA against Value, Age and PO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1399542"/>
            <a:ext cx="10566400" cy="3302000"/>
          </a:xfrm>
          <a:prstGeom prst="roundRect">
            <a:avLst>
              <a:gd name="adj" fmla="val 2692"/>
            </a:avLst>
          </a:prstGeom>
        </p:spPr>
      </p:pic>
      <p:sp>
        <p:nvSpPr>
          <p:cNvPr id="6" name="Text 2"/>
          <p:cNvSpPr/>
          <p:nvPr/>
        </p:nvSpPr>
        <p:spPr>
          <a:xfrm>
            <a:off x="812800" y="4955542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OVA correlates 0.55 with Value (non-linear, so a log scale is used), 0.47 with Age and 0.63 with POT. Points above the dashed line have POT higher than OVA.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12800" y="6202685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 / 28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Multivariate Analysis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99542"/>
            <a:ext cx="10566400" cy="419100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/>
        </p:spPr>
      </p:sp>
      <p:pic>
        <p:nvPicPr>
          <p:cNvPr id="5" name="Image 1" descr="Correlation heatmap and OVA vs POT colored by Ag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1399542"/>
            <a:ext cx="10566400" cy="4191000"/>
          </a:xfrm>
          <a:prstGeom prst="roundRect">
            <a:avLst>
              <a:gd name="adj" fmla="val 2121"/>
            </a:avLst>
          </a:prstGeom>
        </p:spPr>
      </p:pic>
      <p:sp>
        <p:nvSpPr>
          <p:cNvPr id="6" name="Text 2"/>
          <p:cNvSpPr/>
          <p:nvPr/>
        </p:nvSpPr>
        <p:spPr>
          <a:xfrm>
            <a:off x="812800" y="6202685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/ 28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Insights: Players and Ratings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99542"/>
            <a:ext cx="3386614" cy="1574800"/>
          </a:xfrm>
          <a:prstGeom prst="roundRect">
            <a:avLst>
              <a:gd name="adj" fmla="val 8065"/>
            </a:avLst>
          </a:prstGeom>
          <a:solidFill>
            <a:srgbClr val="16335C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99542"/>
            <a:ext cx="3386614" cy="1574800"/>
          </a:xfrm>
          <a:custGeom>
            <a:avLst/>
            <a:gdLst/>
            <a:ahLst/>
            <a:cxnLst/>
            <a:rect l="l" t="t" r="r" b="b"/>
            <a:pathLst>
              <a:path w="3386614" h="1574800">
                <a:moveTo>
                  <a:pt x="127000" y="1574800"/>
                </a:moveTo>
                <a:lnTo>
                  <a:pt x="127000" y="15748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447800"/>
                </a:lnTo>
                <a:arcTo hR="127000" wR="76200" stAng="108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6" name="Text 3"/>
          <p:cNvSpPr/>
          <p:nvPr/>
        </p:nvSpPr>
        <p:spPr>
          <a:xfrm>
            <a:off x="1092200" y="1628142"/>
            <a:ext cx="296497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19A9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67%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092200" y="2283458"/>
            <a:ext cx="296497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players (12,712) have POT above OVA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2614" y="1399542"/>
            <a:ext cx="3386693" cy="1574800"/>
          </a:xfrm>
          <a:prstGeom prst="roundRect">
            <a:avLst>
              <a:gd name="adj" fmla="val 8065"/>
            </a:avLst>
          </a:prstGeom>
          <a:solidFill>
            <a:srgbClr val="16335C"/>
          </a:solidFill>
          <a:ln/>
        </p:spPr>
      </p:sp>
      <p:sp>
        <p:nvSpPr>
          <p:cNvPr id="9" name="Shape 6"/>
          <p:cNvSpPr/>
          <p:nvPr/>
        </p:nvSpPr>
        <p:spPr>
          <a:xfrm>
            <a:off x="4402614" y="1399542"/>
            <a:ext cx="3386693" cy="1574800"/>
          </a:xfrm>
          <a:custGeom>
            <a:avLst/>
            <a:gdLst/>
            <a:ahLst/>
            <a:cxnLst/>
            <a:rect l="l" t="t" r="r" b="b"/>
            <a:pathLst>
              <a:path w="3386693" h="1574800">
                <a:moveTo>
                  <a:pt x="127000" y="1574800"/>
                </a:moveTo>
                <a:lnTo>
                  <a:pt x="127000" y="15748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447800"/>
                </a:lnTo>
                <a:arcTo hR="127000" wR="76200" stAng="108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0" name="Text 7"/>
          <p:cNvSpPr/>
          <p:nvPr/>
        </p:nvSpPr>
        <p:spPr>
          <a:xfrm>
            <a:off x="4682014" y="1628142"/>
            <a:ext cx="2965054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37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4682014" y="2283458"/>
            <a:ext cx="2965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players have potential of 90 or more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92507" y="1399542"/>
            <a:ext cx="3386693" cy="1574800"/>
          </a:xfrm>
          <a:prstGeom prst="roundRect">
            <a:avLst>
              <a:gd name="adj" fmla="val 8065"/>
            </a:avLst>
          </a:prstGeom>
          <a:solidFill>
            <a:srgbClr val="16335C"/>
          </a:solidFill>
          <a:ln/>
        </p:spPr>
      </p:sp>
      <p:sp>
        <p:nvSpPr>
          <p:cNvPr id="13" name="Shape 10"/>
          <p:cNvSpPr/>
          <p:nvPr/>
        </p:nvSpPr>
        <p:spPr>
          <a:xfrm>
            <a:off x="7992507" y="1399542"/>
            <a:ext cx="3386693" cy="1574800"/>
          </a:xfrm>
          <a:custGeom>
            <a:avLst/>
            <a:gdLst/>
            <a:ahLst/>
            <a:cxnLst/>
            <a:rect l="l" t="t" r="r" b="b"/>
            <a:pathLst>
              <a:path w="3386693" h="1574800">
                <a:moveTo>
                  <a:pt x="127000" y="1574800"/>
                </a:moveTo>
                <a:lnTo>
                  <a:pt x="127000" y="15748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447800"/>
                </a:lnTo>
                <a:arcTo hR="127000" wR="76200" stAng="108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4" name="Text 11"/>
          <p:cNvSpPr/>
          <p:nvPr/>
        </p:nvSpPr>
        <p:spPr>
          <a:xfrm>
            <a:off x="8271907" y="1628142"/>
            <a:ext cx="2965054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19A9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76%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8271907" y="2283458"/>
            <a:ext cx="296505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are right-footed; 24% left-footed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2800" y="3228342"/>
            <a:ext cx="5181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17" name="Shape 14"/>
          <p:cNvSpPr/>
          <p:nvPr/>
        </p:nvSpPr>
        <p:spPr>
          <a:xfrm>
            <a:off x="812800" y="3228342"/>
            <a:ext cx="5181600" cy="1511935"/>
          </a:xfrm>
          <a:custGeom>
            <a:avLst/>
            <a:gdLst/>
            <a:ahLst/>
            <a:cxnLst/>
            <a:rect l="l" t="t" r="r" b="b"/>
            <a:pathLst>
              <a:path w="5181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8" name="Text 15"/>
          <p:cNvSpPr/>
          <p:nvPr/>
        </p:nvSpPr>
        <p:spPr>
          <a:xfrm>
            <a:off x="1041400" y="3507742"/>
            <a:ext cx="48661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Youth upside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41400" y="3843027"/>
            <a:ext cx="486613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largest growth gaps belong to teenagers such as B. Arrey-Mbi, R. Richards and A. Hajdari (+26 each).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97600" y="3228342"/>
            <a:ext cx="5181600" cy="1511935"/>
          </a:xfrm>
          <a:prstGeom prst="roundRect">
            <a:avLst>
              <a:gd name="adj" fmla="val 8400"/>
            </a:avLst>
          </a:prstGeom>
          <a:solidFill>
            <a:srgbClr val="16335C"/>
          </a:solidFill>
          <a:ln/>
        </p:spPr>
      </p:sp>
      <p:sp>
        <p:nvSpPr>
          <p:cNvPr id="21" name="Shape 18"/>
          <p:cNvSpPr/>
          <p:nvPr/>
        </p:nvSpPr>
        <p:spPr>
          <a:xfrm>
            <a:off x="6197600" y="3228342"/>
            <a:ext cx="5181600" cy="1511935"/>
          </a:xfrm>
          <a:custGeom>
            <a:avLst/>
            <a:gdLst/>
            <a:ahLst/>
            <a:cxnLst/>
            <a:rect l="l" t="t" r="r" b="b"/>
            <a:pathLst>
              <a:path w="5181600" h="151193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22" name="Text 19"/>
          <p:cNvSpPr/>
          <p:nvPr/>
        </p:nvSpPr>
        <p:spPr>
          <a:xfrm>
            <a:off x="6426200" y="3507742"/>
            <a:ext cx="48661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Nationalities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426200" y="3843027"/>
            <a:ext cx="486613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England, Germany, Spain, France and Argentina supply the most players. Among nations with 30+ players, Egypt has the highest average OVA (71.4).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12800" y="6202685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 / 28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Insights: Value and Wages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99542"/>
            <a:ext cx="3386614" cy="15748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99542"/>
            <a:ext cx="3386614" cy="1574800"/>
          </a:xfrm>
          <a:custGeom>
            <a:avLst/>
            <a:gdLst/>
            <a:ahLst/>
            <a:cxnLst/>
            <a:rect l="l" t="t" r="r" b="b"/>
            <a:pathLst>
              <a:path w="3386614" h="1574800">
                <a:moveTo>
                  <a:pt x="127000" y="1574800"/>
                </a:moveTo>
                <a:lnTo>
                  <a:pt x="127000" y="15748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447800"/>
                </a:lnTo>
                <a:arcTo hR="127000" wR="76200" stAng="108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6" name="Text 3"/>
          <p:cNvSpPr/>
          <p:nvPr/>
        </p:nvSpPr>
        <p:spPr>
          <a:xfrm>
            <a:off x="1092200" y="1628142"/>
            <a:ext cx="296497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19A9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€185.5M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092200" y="2283458"/>
            <a:ext cx="296497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valuable: K. Mbappé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2614" y="1399542"/>
            <a:ext cx="3386693" cy="15748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4402614" y="1399542"/>
            <a:ext cx="3386693" cy="1574800"/>
          </a:xfrm>
          <a:custGeom>
            <a:avLst/>
            <a:gdLst/>
            <a:ahLst/>
            <a:cxnLst/>
            <a:rect l="l" t="t" r="r" b="b"/>
            <a:pathLst>
              <a:path w="3386693" h="1574800">
                <a:moveTo>
                  <a:pt x="127000" y="1574800"/>
                </a:moveTo>
                <a:lnTo>
                  <a:pt x="127000" y="15748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447800"/>
                </a:lnTo>
                <a:arcTo hR="127000" wR="76200" stAng="108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0" name="Text 7"/>
          <p:cNvSpPr/>
          <p:nvPr/>
        </p:nvSpPr>
        <p:spPr>
          <a:xfrm>
            <a:off x="4682014" y="1628142"/>
            <a:ext cx="2965054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€560K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4682014" y="2283458"/>
            <a:ext cx="296505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wage: L. Messi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92507" y="1399542"/>
            <a:ext cx="3386693" cy="15748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7992507" y="1399542"/>
            <a:ext cx="3386693" cy="1574800"/>
          </a:xfrm>
          <a:custGeom>
            <a:avLst/>
            <a:gdLst/>
            <a:ahLst/>
            <a:cxnLst/>
            <a:rect l="l" t="t" r="r" b="b"/>
            <a:pathLst>
              <a:path w="3386693" h="1574800">
                <a:moveTo>
                  <a:pt x="127000" y="1574800"/>
                </a:moveTo>
                <a:lnTo>
                  <a:pt x="127000" y="15748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447800"/>
                </a:lnTo>
                <a:arcTo hR="127000" wR="76200" stAng="108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4" name="Text 11"/>
          <p:cNvSpPr/>
          <p:nvPr/>
        </p:nvSpPr>
        <p:spPr>
          <a:xfrm>
            <a:off x="8271907" y="1628142"/>
            <a:ext cx="2965054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19A9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Madrid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8271907" y="2283458"/>
            <a:ext cx="2965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Largest total wage bill, then FC Barcelona and Manchester City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2800" y="3228342"/>
            <a:ext cx="5181600" cy="1289050"/>
          </a:xfrm>
          <a:prstGeom prst="roundRect">
            <a:avLst>
              <a:gd name="adj" fmla="val 9852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812800" y="3228342"/>
            <a:ext cx="5181600" cy="1289050"/>
          </a:xfrm>
          <a:custGeom>
            <a:avLst/>
            <a:gdLst/>
            <a:ahLst/>
            <a:cxnLst/>
            <a:rect l="l" t="t" r="r" b="b"/>
            <a:pathLst>
              <a:path w="5181600" h="128905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8" name="Text 15"/>
          <p:cNvSpPr/>
          <p:nvPr/>
        </p:nvSpPr>
        <p:spPr>
          <a:xfrm>
            <a:off x="1041400" y="3507742"/>
            <a:ext cx="48661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valuable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41400" y="3843027"/>
            <a:ext cx="486613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Mbappé, then Neymar Jr (€132M) and K. De Bruyne (€129M).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97600" y="3228342"/>
            <a:ext cx="5181600" cy="1289050"/>
          </a:xfrm>
          <a:prstGeom prst="roundRect">
            <a:avLst>
              <a:gd name="adj" fmla="val 9852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6197600" y="3228342"/>
            <a:ext cx="5181600" cy="1289050"/>
          </a:xfrm>
          <a:custGeom>
            <a:avLst/>
            <a:gdLst/>
            <a:ahLst/>
            <a:cxnLst/>
            <a:rect l="l" t="t" r="r" b="b"/>
            <a:pathLst>
              <a:path w="5181600" h="128905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22" name="Text 19"/>
          <p:cNvSpPr/>
          <p:nvPr/>
        </p:nvSpPr>
        <p:spPr>
          <a:xfrm>
            <a:off x="6426200" y="3507742"/>
            <a:ext cx="48661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Highest paid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426200" y="3843027"/>
            <a:ext cx="4866132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Messi, then De Bruyne (€370K) and Benzema (€350K).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12800" y="6202685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 / 28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1979935"/>
            <a:ext cx="494461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Insights: Correlations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2604777"/>
            <a:ext cx="494461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Reactions (0.87), Base Stats (0.85) and Composure (0.70) track OVA most closely.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2800" y="3315977"/>
            <a:ext cx="494461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OVA vs POT 0.63, vs Wage 0.59, vs Value 0.55, vs Age 0.47.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027177"/>
            <a:ext cx="494461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Potential falls as age rises (-0.27): older players have less room to grow.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918200" y="1630685"/>
            <a:ext cx="5461000" cy="297180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/>
        </p:spPr>
      </p:sp>
      <p:pic>
        <p:nvPicPr>
          <p:cNvPr id="8" name="Image 1" descr="Correlations tab in the app">    </p:cNvPr>
          <p:cNvPicPr>
            <a:picLocks noChangeAspect="1"/>
          </p:cNvPicPr>
          <p:nvPr/>
        </p:nvPicPr>
        <p:blipFill>
          <a:blip r:embed="rId2"/>
          <a:srcRect l="0" r="0" t="-40" b="-40"/>
          <a:stretch/>
        </p:blipFill>
        <p:spPr>
          <a:xfrm>
            <a:off x="5918200" y="1630685"/>
            <a:ext cx="5461000" cy="2971800"/>
          </a:xfrm>
          <a:prstGeom prst="roundRect">
            <a:avLst>
              <a:gd name="adj" fmla="val 2991"/>
            </a:avLst>
          </a:prstGeom>
        </p:spPr>
      </p:pic>
      <p:sp>
        <p:nvSpPr>
          <p:cNvPr id="9" name="Text 5"/>
          <p:cNvSpPr/>
          <p:nvPr/>
        </p:nvSpPr>
        <p:spPr>
          <a:xfrm>
            <a:off x="5918200" y="4678685"/>
            <a:ext cx="562483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Correlations tab in the app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12800" y="6202685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 / 28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Streamlit Web App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139954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Interactive dashboard: filters, KPI cards and six tabs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2800" y="1920242"/>
            <a:ext cx="5080000" cy="276225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/>
        </p:spPr>
      </p:sp>
      <p:pic>
        <p:nvPicPr>
          <p:cNvPr id="6" name="Image 1" descr="Overview tab: distributions and filt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1920242"/>
            <a:ext cx="5080000" cy="2762250"/>
          </a:xfrm>
          <a:prstGeom prst="roundRect">
            <a:avLst>
              <a:gd name="adj" fmla="val 3218"/>
            </a:avLst>
          </a:prstGeom>
        </p:spPr>
      </p:pic>
      <p:sp>
        <p:nvSpPr>
          <p:cNvPr id="7" name="Text 3"/>
          <p:cNvSpPr/>
          <p:nvPr/>
        </p:nvSpPr>
        <p:spPr>
          <a:xfrm>
            <a:off x="812800" y="4758692"/>
            <a:ext cx="52324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Overview tab: distributions and filters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096000" y="1920242"/>
            <a:ext cx="5080000" cy="276225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/>
        </p:spPr>
      </p:sp>
      <p:pic>
        <p:nvPicPr>
          <p:cNvPr id="9" name="Image 2" descr="Top Players tab: ratings and potential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6000" y="1920242"/>
            <a:ext cx="5080000" cy="2762250"/>
          </a:xfrm>
          <a:prstGeom prst="roundRect">
            <a:avLst>
              <a:gd name="adj" fmla="val 3218"/>
            </a:avLst>
          </a:prstGeom>
        </p:spPr>
      </p:pic>
      <p:sp>
        <p:nvSpPr>
          <p:cNvPr id="10" name="Text 5"/>
          <p:cNvSpPr/>
          <p:nvPr/>
        </p:nvSpPr>
        <p:spPr>
          <a:xfrm>
            <a:off x="6096000" y="4758692"/>
            <a:ext cx="52324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Players tab: ratings and potential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12800" y="6202685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/ 28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Streamlit App: More Views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99542"/>
            <a:ext cx="3365500" cy="182880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/>
        </p:spPr>
      </p:sp>
      <p:pic>
        <p:nvPicPr>
          <p:cNvPr id="5" name="Image 1" descr="Clubs and Nationalities">    </p:cNvPr>
          <p:cNvPicPr>
            <a:picLocks noChangeAspect="1"/>
          </p:cNvPicPr>
          <p:nvPr/>
        </p:nvPicPr>
        <p:blipFill>
          <a:blip r:embed="rId2"/>
          <a:srcRect l="-33" r="-33" t="0" b="0"/>
          <a:stretch/>
        </p:blipFill>
        <p:spPr>
          <a:xfrm>
            <a:off x="812800" y="1399542"/>
            <a:ext cx="3365500" cy="1828800"/>
          </a:xfrm>
          <a:prstGeom prst="roundRect">
            <a:avLst>
              <a:gd name="adj" fmla="val 4861"/>
            </a:avLst>
          </a:prstGeom>
        </p:spPr>
      </p:pic>
      <p:sp>
        <p:nvSpPr>
          <p:cNvPr id="6" name="Text 2"/>
          <p:cNvSpPr/>
          <p:nvPr/>
        </p:nvSpPr>
        <p:spPr>
          <a:xfrm>
            <a:off x="812800" y="3304542"/>
            <a:ext cx="346646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Clubs and Nationalities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330700" y="1399542"/>
            <a:ext cx="3365500" cy="182880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/>
        </p:spPr>
      </p:sp>
      <p:pic>
        <p:nvPicPr>
          <p:cNvPr id="8" name="Image 2" descr="Value and Wages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4330700" y="1399542"/>
            <a:ext cx="3365500" cy="1828800"/>
          </a:xfrm>
          <a:prstGeom prst="roundRect">
            <a:avLst>
              <a:gd name="adj" fmla="val 4861"/>
            </a:avLst>
          </a:prstGeom>
        </p:spPr>
      </p:pic>
      <p:sp>
        <p:nvSpPr>
          <p:cNvPr id="9" name="Text 4"/>
          <p:cNvSpPr/>
          <p:nvPr/>
        </p:nvSpPr>
        <p:spPr>
          <a:xfrm>
            <a:off x="4330700" y="3304542"/>
            <a:ext cx="346646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 and Wages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7848600" y="1399542"/>
            <a:ext cx="3365500" cy="182880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/>
        </p:spPr>
      </p:sp>
      <p:pic>
        <p:nvPicPr>
          <p:cNvPr id="11" name="Image 3" descr="Raw Data with CSV download">    </p:cNvPr>
          <p:cNvPicPr>
            <a:picLocks noChangeAspect="1"/>
          </p:cNvPicPr>
          <p:nvPr/>
        </p:nvPicPr>
        <p:blipFill>
          <a:blip r:embed="rId4"/>
          <a:srcRect l="-33" r="-33" t="0" b="0"/>
          <a:stretch/>
        </p:blipFill>
        <p:spPr>
          <a:xfrm>
            <a:off x="7848600" y="1399542"/>
            <a:ext cx="3365500" cy="1828800"/>
          </a:xfrm>
          <a:prstGeom prst="roundRect">
            <a:avLst>
              <a:gd name="adj" fmla="val 4861"/>
            </a:avLst>
          </a:prstGeom>
        </p:spPr>
      </p:pic>
      <p:sp>
        <p:nvSpPr>
          <p:cNvPr id="12" name="Text 6"/>
          <p:cNvSpPr/>
          <p:nvPr/>
        </p:nvSpPr>
        <p:spPr>
          <a:xfrm>
            <a:off x="7848600" y="3304542"/>
            <a:ext cx="346646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Data with CSV download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812800" y="6202685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 / 28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Story Behind the Data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74142"/>
            <a:ext cx="5194300" cy="1563370"/>
          </a:xfrm>
          <a:prstGeom prst="roundRect">
            <a:avLst>
              <a:gd name="adj" fmla="val 8123"/>
            </a:avLst>
          </a:prstGeom>
          <a:solidFill>
            <a:srgbClr val="16335C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74142"/>
            <a:ext cx="5194300" cy="1563370"/>
          </a:xfrm>
          <a:custGeom>
            <a:avLst/>
            <a:gdLst/>
            <a:ahLst/>
            <a:cxnLst/>
            <a:rect l="l" t="t" r="r" b="b"/>
            <a:pathLst>
              <a:path w="5194300" h="156337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67300" y="0"/>
                </a:lnTo>
                <a:arcTo hR="127000" wR="127000" stAng="16200000" swAng="5400000"/>
                <a:lnTo>
                  <a:pt x="5194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6" name="Text 3"/>
          <p:cNvSpPr/>
          <p:nvPr/>
        </p:nvSpPr>
        <p:spPr>
          <a:xfrm>
            <a:off x="1041400" y="1653542"/>
            <a:ext cx="487921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The data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41400" y="1988827"/>
            <a:ext cx="4879213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18,979 FIFA 21 players described by 77 columns: ratings, skills, contracts and money, in raw and messy form.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84900" y="1374142"/>
            <a:ext cx="5194300" cy="1563370"/>
          </a:xfrm>
          <a:prstGeom prst="roundRect">
            <a:avLst>
              <a:gd name="adj" fmla="val 8123"/>
            </a:avLst>
          </a:prstGeom>
          <a:solidFill>
            <a:srgbClr val="16335C"/>
          </a:solidFill>
          <a:ln/>
        </p:spPr>
      </p:sp>
      <p:sp>
        <p:nvSpPr>
          <p:cNvPr id="9" name="Shape 6"/>
          <p:cNvSpPr/>
          <p:nvPr/>
        </p:nvSpPr>
        <p:spPr>
          <a:xfrm>
            <a:off x="6184900" y="1374142"/>
            <a:ext cx="5194300" cy="1563370"/>
          </a:xfrm>
          <a:custGeom>
            <a:avLst/>
            <a:gdLst/>
            <a:ahLst/>
            <a:cxnLst/>
            <a:rect l="l" t="t" r="r" b="b"/>
            <a:pathLst>
              <a:path w="5194300" h="156337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67300" y="0"/>
                </a:lnTo>
                <a:arcTo hR="127000" wR="127000" stAng="16200000" swAng="5400000"/>
                <a:lnTo>
                  <a:pt x="5194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0" name="Text 7"/>
          <p:cNvSpPr/>
          <p:nvPr/>
        </p:nvSpPr>
        <p:spPr>
          <a:xfrm>
            <a:off x="6413500" y="1653542"/>
            <a:ext cx="487921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The clean-up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13500" y="1988827"/>
            <a:ext cx="4879213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 numbers, mixed units, hidden line breaks and missing values were fixed, and one new feature, difference_OVA_POT, was added.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2800" y="3115308"/>
            <a:ext cx="5194300" cy="1803400"/>
          </a:xfrm>
          <a:prstGeom prst="roundRect">
            <a:avLst>
              <a:gd name="adj" fmla="val 7042"/>
            </a:avLst>
          </a:prstGeom>
          <a:solidFill>
            <a:srgbClr val="16335C"/>
          </a:solidFill>
          <a:ln/>
        </p:spPr>
      </p:sp>
      <p:sp>
        <p:nvSpPr>
          <p:cNvPr id="13" name="Shape 10"/>
          <p:cNvSpPr/>
          <p:nvPr/>
        </p:nvSpPr>
        <p:spPr>
          <a:xfrm>
            <a:off x="812800" y="3115308"/>
            <a:ext cx="5194300" cy="1803400"/>
          </a:xfrm>
          <a:custGeom>
            <a:avLst/>
            <a:gdLst/>
            <a:ahLst/>
            <a:cxnLst/>
            <a:rect l="l" t="t" r="r" b="b"/>
            <a:pathLst>
              <a:path w="5194300" h="180340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67300" y="0"/>
                </a:lnTo>
                <a:arcTo hR="127000" wR="127000" stAng="16200000" swAng="5400000"/>
                <a:lnTo>
                  <a:pt x="5194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4" name="Text 11"/>
          <p:cNvSpPr/>
          <p:nvPr/>
        </p:nvSpPr>
        <p:spPr>
          <a:xfrm>
            <a:off x="1041400" y="3394708"/>
            <a:ext cx="487921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The discovery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041400" y="3729992"/>
            <a:ext cx="4879213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Talent is young: 67% of players can still improve and teenagers carry the biggest gaps. Money sits at the top: Mbappé is valued at €185.5M and Messi earns the top wage.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84900" y="3115308"/>
            <a:ext cx="5194300" cy="1803400"/>
          </a:xfrm>
          <a:prstGeom prst="roundRect">
            <a:avLst>
              <a:gd name="adj" fmla="val 7042"/>
            </a:avLst>
          </a:prstGeom>
          <a:solidFill>
            <a:srgbClr val="16335C"/>
          </a:solidFill>
          <a:ln/>
        </p:spPr>
      </p:sp>
      <p:sp>
        <p:nvSpPr>
          <p:cNvPr id="17" name="Shape 14"/>
          <p:cNvSpPr/>
          <p:nvPr/>
        </p:nvSpPr>
        <p:spPr>
          <a:xfrm>
            <a:off x="6184900" y="3115308"/>
            <a:ext cx="5194300" cy="1803400"/>
          </a:xfrm>
          <a:custGeom>
            <a:avLst/>
            <a:gdLst/>
            <a:ahLst/>
            <a:cxnLst/>
            <a:rect l="l" t="t" r="r" b="b"/>
            <a:pathLst>
              <a:path w="5194300" h="180340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67300" y="0"/>
                </a:lnTo>
                <a:arcTo hR="127000" wR="127000" stAng="16200000" swAng="5400000"/>
                <a:lnTo>
                  <a:pt x="5194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8" name="Text 15"/>
          <p:cNvSpPr/>
          <p:nvPr/>
        </p:nvSpPr>
        <p:spPr>
          <a:xfrm>
            <a:off x="6413500" y="3394708"/>
            <a:ext cx="487921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The takeaway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413500" y="3729992"/>
            <a:ext cx="4879213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Rating follows reactions, composure and base stats more than age, and the Streamlit app lets anyone explore it.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12800" y="6202685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 / 28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74142"/>
            <a:ext cx="3403600" cy="15748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74142"/>
            <a:ext cx="3403600" cy="1574800"/>
          </a:xfrm>
          <a:custGeom>
            <a:avLst/>
            <a:gdLst/>
            <a:ahLst/>
            <a:cxnLst/>
            <a:rect l="l" t="t" r="r" b="b"/>
            <a:pathLst>
              <a:path w="3403600" h="1574800">
                <a:moveTo>
                  <a:pt x="127000" y="1574800"/>
                </a:moveTo>
                <a:lnTo>
                  <a:pt x="127000" y="15748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447800"/>
                </a:lnTo>
                <a:arcTo hR="127000" wR="76200" stAng="108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6" name="Text 3"/>
          <p:cNvSpPr/>
          <p:nvPr/>
        </p:nvSpPr>
        <p:spPr>
          <a:xfrm>
            <a:off x="1092200" y="1602742"/>
            <a:ext cx="29824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9A9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67%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92200" y="2222500"/>
            <a:ext cx="2982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players have POT above OVA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94200" y="1374142"/>
            <a:ext cx="3403600" cy="15748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4394200" y="1374142"/>
            <a:ext cx="3403600" cy="1574800"/>
          </a:xfrm>
          <a:custGeom>
            <a:avLst/>
            <a:gdLst/>
            <a:ahLst/>
            <a:cxnLst/>
            <a:rect l="l" t="t" r="r" b="b"/>
            <a:pathLst>
              <a:path w="3403600" h="1574800">
                <a:moveTo>
                  <a:pt x="127000" y="1574800"/>
                </a:moveTo>
                <a:lnTo>
                  <a:pt x="127000" y="15748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447800"/>
                </a:lnTo>
                <a:arcTo hR="127000" wR="76200" stAng="108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0" name="Text 7"/>
          <p:cNvSpPr/>
          <p:nvPr/>
        </p:nvSpPr>
        <p:spPr>
          <a:xfrm>
            <a:off x="4673600" y="1602742"/>
            <a:ext cx="29824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+26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673600" y="2222500"/>
            <a:ext cx="298246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largest growth gap: B. Arrey-Mbi, age 17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975600" y="1374142"/>
            <a:ext cx="3403600" cy="15748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7975600" y="1374142"/>
            <a:ext cx="3403600" cy="1574800"/>
          </a:xfrm>
          <a:custGeom>
            <a:avLst/>
            <a:gdLst/>
            <a:ahLst/>
            <a:cxnLst/>
            <a:rect l="l" t="t" r="r" b="b"/>
            <a:pathLst>
              <a:path w="3403600" h="1574800">
                <a:moveTo>
                  <a:pt x="127000" y="1574800"/>
                </a:moveTo>
                <a:lnTo>
                  <a:pt x="127000" y="15748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447800"/>
                </a:lnTo>
                <a:arcTo hR="127000" wR="76200" stAng="108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4" name="Text 11"/>
          <p:cNvSpPr/>
          <p:nvPr/>
        </p:nvSpPr>
        <p:spPr>
          <a:xfrm>
            <a:off x="8255000" y="1602742"/>
            <a:ext cx="29824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9A9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37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8255000" y="2222500"/>
            <a:ext cx="298246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players with potential of 90 or more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12800" y="3126742"/>
            <a:ext cx="3403600" cy="15748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812800" y="3126742"/>
            <a:ext cx="3403600" cy="1574800"/>
          </a:xfrm>
          <a:custGeom>
            <a:avLst/>
            <a:gdLst/>
            <a:ahLst/>
            <a:cxnLst/>
            <a:rect l="l" t="t" r="r" b="b"/>
            <a:pathLst>
              <a:path w="3403600" h="1574800">
                <a:moveTo>
                  <a:pt x="127000" y="1574800"/>
                </a:moveTo>
                <a:lnTo>
                  <a:pt x="127000" y="15748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447800"/>
                </a:lnTo>
                <a:arcTo hR="127000" wR="76200" stAng="108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8" name="Text 15"/>
          <p:cNvSpPr/>
          <p:nvPr/>
        </p:nvSpPr>
        <p:spPr>
          <a:xfrm>
            <a:off x="1092200" y="3355342"/>
            <a:ext cx="29824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€185.5M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1092200" y="3975100"/>
            <a:ext cx="298246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valuable player: K. Mbappé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394200" y="3126742"/>
            <a:ext cx="3403600" cy="15748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4394200" y="3126742"/>
            <a:ext cx="3403600" cy="1574800"/>
          </a:xfrm>
          <a:custGeom>
            <a:avLst/>
            <a:gdLst/>
            <a:ahLst/>
            <a:cxnLst/>
            <a:rect l="l" t="t" r="r" b="b"/>
            <a:pathLst>
              <a:path w="3403600" h="1574800">
                <a:moveTo>
                  <a:pt x="127000" y="1574800"/>
                </a:moveTo>
                <a:lnTo>
                  <a:pt x="127000" y="15748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447800"/>
                </a:lnTo>
                <a:arcTo hR="127000" wR="76200" stAng="108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22" name="Text 19"/>
          <p:cNvSpPr/>
          <p:nvPr/>
        </p:nvSpPr>
        <p:spPr>
          <a:xfrm>
            <a:off x="4673600" y="3355342"/>
            <a:ext cx="29824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9A9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0.87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4673600" y="3975100"/>
            <a:ext cx="298246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correlation of Reactions with OVA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975600" y="3126742"/>
            <a:ext cx="3403600" cy="15748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7975600" y="3126742"/>
            <a:ext cx="3403600" cy="1574800"/>
          </a:xfrm>
          <a:custGeom>
            <a:avLst/>
            <a:gdLst/>
            <a:ahLst/>
            <a:cxnLst/>
            <a:rect l="l" t="t" r="r" b="b"/>
            <a:pathLst>
              <a:path w="3403600" h="1574800">
                <a:moveTo>
                  <a:pt x="127000" y="1574800"/>
                </a:moveTo>
                <a:lnTo>
                  <a:pt x="127000" y="15748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447800"/>
                </a:lnTo>
                <a:arcTo hR="127000" wR="76200" stAng="108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26" name="Text 23"/>
          <p:cNvSpPr/>
          <p:nvPr/>
        </p:nvSpPr>
        <p:spPr>
          <a:xfrm>
            <a:off x="8255000" y="3355342"/>
            <a:ext cx="29824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71.4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8255000" y="3975100"/>
            <a:ext cx="298246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Egypt average OVA, nations with 30+ players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12800" y="6202685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 / 28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4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399542"/>
            <a:ext cx="3403600" cy="1957705"/>
          </a:xfrm>
          <a:prstGeom prst="roundRect">
            <a:avLst>
              <a:gd name="adj" fmla="val 6487"/>
            </a:avLst>
          </a:prstGeom>
          <a:solidFill>
            <a:srgbClr val="16335C"/>
          </a:solidFill>
          <a:ln/>
        </p:spPr>
      </p:sp>
      <p:sp>
        <p:nvSpPr>
          <p:cNvPr id="5" name="Shape 2"/>
          <p:cNvSpPr/>
          <p:nvPr/>
        </p:nvSpPr>
        <p:spPr>
          <a:xfrm>
            <a:off x="812800" y="1399542"/>
            <a:ext cx="3403600" cy="1957705"/>
          </a:xfrm>
          <a:custGeom>
            <a:avLst/>
            <a:gdLst/>
            <a:ahLst/>
            <a:cxnLst/>
            <a:rect l="l" t="t" r="r" b="b"/>
            <a:pathLst>
              <a:path w="3403600" h="195770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6" name="Text 3"/>
          <p:cNvSpPr/>
          <p:nvPr/>
        </p:nvSpPr>
        <p:spPr>
          <a:xfrm>
            <a:off x="1041400" y="1678942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41400" y="2014227"/>
            <a:ext cx="3034792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raw file had text numbers, mixed units, hidden characters and missing values; all were documented and fixed.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4200" y="1399542"/>
            <a:ext cx="3403600" cy="1957705"/>
          </a:xfrm>
          <a:prstGeom prst="roundRect">
            <a:avLst>
              <a:gd name="adj" fmla="val 6487"/>
            </a:avLst>
          </a:prstGeom>
          <a:solidFill>
            <a:srgbClr val="16335C"/>
          </a:solidFill>
          <a:ln/>
        </p:spPr>
      </p:sp>
      <p:sp>
        <p:nvSpPr>
          <p:cNvPr id="9" name="Shape 6"/>
          <p:cNvSpPr/>
          <p:nvPr/>
        </p:nvSpPr>
        <p:spPr>
          <a:xfrm>
            <a:off x="4394200" y="1399542"/>
            <a:ext cx="3403600" cy="1957705"/>
          </a:xfrm>
          <a:custGeom>
            <a:avLst/>
            <a:gdLst/>
            <a:ahLst/>
            <a:cxnLst/>
            <a:rect l="l" t="t" r="r" b="b"/>
            <a:pathLst>
              <a:path w="3403600" h="195770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5B83D"/>
          </a:solidFill>
          <a:ln/>
        </p:spPr>
      </p:sp>
      <p:sp>
        <p:nvSpPr>
          <p:cNvPr id="10" name="Text 7"/>
          <p:cNvSpPr/>
          <p:nvPr/>
        </p:nvSpPr>
        <p:spPr>
          <a:xfrm>
            <a:off x="4622800" y="1678942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Findings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22800" y="2014227"/>
            <a:ext cx="3034792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players still have room to grow, young talents carry the biggest gaps, and rating follows reactions, composure and base stats.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75600" y="1399542"/>
            <a:ext cx="3403600" cy="1957705"/>
          </a:xfrm>
          <a:prstGeom prst="roundRect">
            <a:avLst>
              <a:gd name="adj" fmla="val 6487"/>
            </a:avLst>
          </a:prstGeom>
          <a:solidFill>
            <a:srgbClr val="16335C"/>
          </a:solidFill>
          <a:ln/>
        </p:spPr>
      </p:sp>
      <p:sp>
        <p:nvSpPr>
          <p:cNvPr id="13" name="Shape 10"/>
          <p:cNvSpPr/>
          <p:nvPr/>
        </p:nvSpPr>
        <p:spPr>
          <a:xfrm>
            <a:off x="7975600" y="1399542"/>
            <a:ext cx="3403600" cy="1957705"/>
          </a:xfrm>
          <a:custGeom>
            <a:avLst/>
            <a:gdLst/>
            <a:ahLst/>
            <a:cxnLst/>
            <a:rect l="l" t="t" r="r" b="b"/>
            <a:pathLst>
              <a:path w="3403600" h="1957705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76600" y="0"/>
                </a:lnTo>
                <a:arcTo hR="127000" wR="127000" stAng="16200000" swAng="5400000"/>
                <a:lnTo>
                  <a:pt x="3403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9A974"/>
          </a:solidFill>
          <a:ln/>
        </p:spPr>
      </p:sp>
      <p:sp>
        <p:nvSpPr>
          <p:cNvPr id="14" name="Text 11"/>
          <p:cNvSpPr/>
          <p:nvPr/>
        </p:nvSpPr>
        <p:spPr>
          <a:xfrm>
            <a:off x="8204200" y="1678942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F6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04200" y="2014227"/>
            <a:ext cx="3034792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Streamlit app turns the cleaned data into a filterable dashboard for exploring players, clubs and money.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2800" y="6202685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 / Saleh Abdel Raouf Hussein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417050" y="62382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 / 28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FA 21 Mid-Project - Saleh Abdel Raouf Hussein">
  <a:themeElements>
    <a:clrScheme name="FIFA 21 Mid-Project - Saleh Abdel Raouf Hussein">
      <a:dk1>
        <a:srgbClr val="10243E"/>
      </a:dk1>
      <a:lt1>
        <a:srgbClr val="F3F6F4"/>
      </a:lt1>
      <a:dk2>
        <a:srgbClr val="49596C"/>
      </a:dk2>
      <a:lt2>
        <a:srgbClr val="DCE1E2"/>
      </a:lt2>
      <a:accent1>
        <a:srgbClr val="A9BAD0"/>
      </a:accent1>
      <a:accent2>
        <a:srgbClr val="16335C"/>
      </a:accent2>
      <a:accent3>
        <a:srgbClr val="F5B83D"/>
      </a:accent3>
      <a:accent4>
        <a:srgbClr val="19A974"/>
      </a:accent4>
      <a:accent5>
        <a:srgbClr val="3B4C60"/>
      </a:accent5>
      <a:accent6>
        <a:srgbClr val="5A6B7F"/>
      </a:accent6>
      <a:hlink>
        <a:srgbClr val="0563C1"/>
      </a:hlink>
      <a:folHlink>
        <a:srgbClr val="954F72"/>
      </a:folHlink>
    </a:clrScheme>
    <a:fontScheme name="FIFA 21 Mid-Project - Saleh Abdel Raouf Hussein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FIFA 21 Mid-Project - Saleh Abdel Raouf Hussein</dc:title>
  <dc:subject/>
  <dc:creator/>
  <cp:lastModifiedBy/>
  <cp:revision>1</cp:revision>
  <dcterms:created xsi:type="dcterms:W3CDTF">2026-10-07T21:42:39Z</dcterms:created>
  <dcterms:modified xsi:type="dcterms:W3CDTF">2026-10-07T21:42:39Z</dcterms:modified>
</cp:coreProperties>
</file>